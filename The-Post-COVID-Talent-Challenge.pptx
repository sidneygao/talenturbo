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Host Grotesk Medium" panose="02010600030101010101" charset="0"/>
      <p:regular r:id="rId8"/>
    </p:embeddedFont>
    <p:embeddedFont>
      <p:font typeface="Roboto" panose="02000000000000000000" pitchFamily="2" charset="0"/>
      <p:regular r:id="rId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267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4263"/>
            <a:ext cx="87166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Post-COVID Talent Challenge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23031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market has evolved, but talent management approaches haven't kept pace. We're facing unprecedented structural contradictions in today's workforce landscape.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58678"/>
            <a:ext cx="6407944" cy="163961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2391608" y="2993112"/>
            <a:ext cx="32123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Supply vs. Differentiation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3483531"/>
            <a:ext cx="593907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Abundant resumes, but homogenized skill tags make truly differentiated talent nearly impossible to identify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758678"/>
            <a:ext cx="6408063" cy="163961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20783" y="2993112"/>
            <a:ext cx="30235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Rapidly Evolving Needs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2982" y="3483531"/>
            <a:ext cx="593919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Job requirements change monthly while traditional static profiles become obsolete almost instantly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4625102"/>
            <a:ext cx="6407944" cy="163961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580084" y="4859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Decentralized Work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8224" y="5349954"/>
            <a:ext cx="593907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Contributions increasingly happen in projects rather than fixed desks and standard hours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4625102"/>
            <a:ext cx="6408063" cy="1639610"/>
          </a:xfrm>
          <a:prstGeom prst="roundRect">
            <a:avLst>
              <a:gd name="adj" fmla="val 5810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214961" y="48595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Broken Incentives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62982" y="5349954"/>
            <a:ext cx="593919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performance systems encourage "play it safe" behaviors, obscuring high-potential talent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6519863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need new tools to redefine, discover, and develop genuine high-potential talent in this transformed landscape.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7115175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615" y="409098"/>
            <a:ext cx="5069800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Talenturbo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593705" y="1084479"/>
            <a:ext cx="7639883" cy="380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New Engine for Talent Assessment &amp; Development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596384" y="1808200"/>
            <a:ext cx="13210937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Talenturbo is an integrated talent development platform designed for the new era of work. Our flagship </a:t>
            </a:r>
            <a:r>
              <a:rPr lang="en-US" sz="175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SmartAssess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module breaks beyond traditional two-dimensional evaluation models.</a:t>
            </a:r>
          </a:p>
        </p:txBody>
      </p:sp>
      <p:sp>
        <p:nvSpPr>
          <p:cNvPr id="5" name="Shape 3"/>
          <p:cNvSpPr/>
          <p:nvPr/>
        </p:nvSpPr>
        <p:spPr>
          <a:xfrm>
            <a:off x="596384" y="2599729"/>
            <a:ext cx="13210937" cy="784265"/>
          </a:xfrm>
          <a:prstGeom prst="roundRect">
            <a:avLst>
              <a:gd name="adj" fmla="val 10860"/>
            </a:avLst>
          </a:prstGeom>
          <a:solidFill>
            <a:srgbClr val="C6E4EB"/>
          </a:solidFill>
          <a:ln/>
        </p:spPr>
        <p:txBody>
          <a:bodyPr/>
          <a:lstStyle/>
          <a:p>
            <a:endParaRPr lang="zh-CN" altLang="en-US" sz="24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47" y="2888931"/>
            <a:ext cx="253484" cy="2027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5395" y="2831543"/>
            <a:ext cx="12349162" cy="288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models focus only on performance and behavior. SmartAssess introduces a critical third dimension: competency.</a:t>
            </a:r>
          </a:p>
        </p:txBody>
      </p:sp>
      <p:sp>
        <p:nvSpPr>
          <p:cNvPr id="9" name="Text 5"/>
          <p:cNvSpPr/>
          <p:nvPr/>
        </p:nvSpPr>
        <p:spPr>
          <a:xfrm>
            <a:off x="959005" y="4140398"/>
            <a:ext cx="2883499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Authoritative Foundation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59005" y="4882753"/>
            <a:ext cx="2883499" cy="2304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on proven assessment frameworks like SHL, incorporating benchmarking perspectives for meaningful talent profiles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318354" y="4140398"/>
            <a:ext cx="2883499" cy="95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Flexible Multi-Dimensional Framework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4318354" y="5199578"/>
            <a:ext cx="2883499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Customize professional capabilities, leadership, values and more to match your unique talent standards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7677702" y="4140398"/>
            <a:ext cx="2883499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Granular Modeling with Smartisans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7677702" y="4882753"/>
            <a:ext cx="2883499" cy="1728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Optional full-version Smartisans creates individual data models for each position and employee—true personalization at scale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1037015" y="4140398"/>
            <a:ext cx="2883654" cy="950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Contribution Integration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11037015" y="5199578"/>
            <a:ext cx="2883654" cy="2016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Optional SmartProject integration adds a fourth assessment dimension: real-time project contributions for dynamic, persuasive profiles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039" y="376365"/>
            <a:ext cx="4069318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Smartisans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07039" y="931673"/>
            <a:ext cx="559677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Ultra-Granular Professional Competency Modeling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07039" y="1821297"/>
            <a:ext cx="1191391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Making professional capabilities truly computable and measurable.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660" y="2430304"/>
            <a:ext cx="3971219" cy="6510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0538" y="3198138"/>
            <a:ext cx="290449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Award-Winning Methodology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09204" y="3522464"/>
            <a:ext cx="362591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Based on National HR Innovation Award-level delivery outcomes, ensuring model credibility and professionalism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636" y="2430304"/>
            <a:ext cx="3971345" cy="6510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62830" y="3198138"/>
            <a:ext cx="2497689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Elastic Modeling Platform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398179" y="3522464"/>
            <a:ext cx="362604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Easily build industry or enterprise-specific professional capability models that flex with your business reality</a:t>
            </a:r>
            <a:endParaRPr lang="en-US" sz="1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738" y="2446020"/>
            <a:ext cx="3971345" cy="6510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51598" y="3213854"/>
            <a:ext cx="2503499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Empowered Stakeholders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9487280" y="3538180"/>
            <a:ext cx="362604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HRBPs gain digital insights for personalized guidance; employees see customized career development portraits</a:t>
            </a:r>
            <a:endParaRPr lang="en-US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660" y="4754999"/>
            <a:ext cx="3971219" cy="65103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91454" y="5522833"/>
            <a:ext cx="2190403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Closed-Loop Learning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1309204" y="5847159"/>
            <a:ext cx="3625917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Integrates with mainstream learning platforms. Employees earn capability points through training and coaching, creating real-time feedback loops.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09204" y="7034926"/>
            <a:ext cx="362591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5636" y="4754999"/>
            <a:ext cx="3971345" cy="65103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82275" y="5522833"/>
            <a:ext cx="2158323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Continuous Evolution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5398179" y="5847159"/>
            <a:ext cx="3626044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capability points from self-directed learning automatically sync back to Talenturbo, forming a closed-loop capability evolution system.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5398179" y="6755368"/>
            <a:ext cx="362604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training session, every coaching hour directly enhances the talent profile.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398179" y="7244476"/>
            <a:ext cx="362604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87F82C3D-652C-5A81-41AD-8DC0F83C0363}"/>
              </a:ext>
            </a:extLst>
          </p:cNvPr>
          <p:cNvGrpSpPr/>
          <p:nvPr/>
        </p:nvGrpSpPr>
        <p:grpSpPr>
          <a:xfrm>
            <a:off x="5365713" y="5296829"/>
            <a:ext cx="3832234" cy="1852339"/>
            <a:chOff x="10306170" y="237053"/>
            <a:chExt cx="2946083" cy="1957983"/>
          </a:xfrm>
        </p:grpSpPr>
        <p:sp>
          <p:nvSpPr>
            <p:cNvPr id="42" name="Shape 3">
              <a:extLst>
                <a:ext uri="{FF2B5EF4-FFF2-40B4-BE49-F238E27FC236}">
                  <a16:creationId xmlns:a16="http://schemas.microsoft.com/office/drawing/2014/main" id="{67086167-CEA5-6EDF-2ECB-67C145E457BF}"/>
                </a:ext>
              </a:extLst>
            </p:cNvPr>
            <p:cNvSpPr/>
            <p:nvPr/>
          </p:nvSpPr>
          <p:spPr>
            <a:xfrm>
              <a:off x="10329030" y="237053"/>
              <a:ext cx="2923223" cy="1957983"/>
            </a:xfrm>
            <a:prstGeom prst="roundRect">
              <a:avLst>
                <a:gd name="adj" fmla="val 5604"/>
              </a:avLst>
            </a:prstGeom>
            <a:solidFill>
              <a:srgbClr val="FAF9F5"/>
            </a:solidFill>
            <a:ln w="22860">
              <a:solidFill>
                <a:srgbClr val="BFD3D8"/>
              </a:solidFill>
              <a:prstDash val="solid"/>
            </a:ln>
          </p:spPr>
          <p:txBody>
            <a:bodyPr/>
            <a:lstStyle/>
            <a:p>
              <a:endParaRPr lang="zh-CN" altLang="en-US" sz="2000"/>
            </a:p>
          </p:txBody>
        </p:sp>
        <p:pic>
          <p:nvPicPr>
            <p:cNvPr id="43" name="Image 0" descr="preencoded.png">
              <a:extLst>
                <a:ext uri="{FF2B5EF4-FFF2-40B4-BE49-F238E27FC236}">
                  <a16:creationId xmlns:a16="http://schemas.microsoft.com/office/drawing/2014/main" id="{BD37797A-7AAE-53DE-307D-D66749B8B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06170" y="237053"/>
              <a:ext cx="91440" cy="1957983"/>
            </a:xfrm>
            <a:prstGeom prst="rect">
              <a:avLst/>
            </a:prstGeom>
          </p:spPr>
        </p:pic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EEA6DEC8-388D-F840-83E8-92FE5B9597AA}"/>
              </a:ext>
            </a:extLst>
          </p:cNvPr>
          <p:cNvGrpSpPr/>
          <p:nvPr/>
        </p:nvGrpSpPr>
        <p:grpSpPr>
          <a:xfrm>
            <a:off x="1225689" y="5296829"/>
            <a:ext cx="3832234" cy="1852339"/>
            <a:chOff x="10306170" y="237053"/>
            <a:chExt cx="2946083" cy="1957983"/>
          </a:xfrm>
        </p:grpSpPr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76383DEB-70A4-9EE6-E0EC-0999B67EFC1A}"/>
                </a:ext>
              </a:extLst>
            </p:cNvPr>
            <p:cNvSpPr/>
            <p:nvPr/>
          </p:nvSpPr>
          <p:spPr>
            <a:xfrm>
              <a:off x="10329030" y="237053"/>
              <a:ext cx="2923223" cy="1957983"/>
            </a:xfrm>
            <a:prstGeom prst="roundRect">
              <a:avLst>
                <a:gd name="adj" fmla="val 5604"/>
              </a:avLst>
            </a:prstGeom>
            <a:solidFill>
              <a:srgbClr val="FAF9F5"/>
            </a:solidFill>
            <a:ln w="22860">
              <a:solidFill>
                <a:srgbClr val="BFD3D8"/>
              </a:solidFill>
              <a:prstDash val="solid"/>
            </a:ln>
          </p:spPr>
          <p:txBody>
            <a:bodyPr/>
            <a:lstStyle/>
            <a:p>
              <a:endParaRPr lang="zh-CN" altLang="en-US" sz="2000"/>
            </a:p>
          </p:txBody>
        </p:sp>
        <p:pic>
          <p:nvPicPr>
            <p:cNvPr id="49" name="Image 0" descr="preencoded.png">
              <a:extLst>
                <a:ext uri="{FF2B5EF4-FFF2-40B4-BE49-F238E27FC236}">
                  <a16:creationId xmlns:a16="http://schemas.microsoft.com/office/drawing/2014/main" id="{1B50AFBB-9713-139E-D486-CE6487B35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06170" y="237053"/>
              <a:ext cx="91440" cy="1957983"/>
            </a:xfrm>
            <a:prstGeom prst="rect">
              <a:avLst/>
            </a:prstGeom>
          </p:spPr>
        </p:pic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011CF36-A6A7-E8EC-B605-0D44228EB3AF}"/>
              </a:ext>
            </a:extLst>
          </p:cNvPr>
          <p:cNvGrpSpPr/>
          <p:nvPr/>
        </p:nvGrpSpPr>
        <p:grpSpPr>
          <a:xfrm>
            <a:off x="9532770" y="5296829"/>
            <a:ext cx="3832234" cy="1813048"/>
            <a:chOff x="10306170" y="237053"/>
            <a:chExt cx="2946083" cy="1957983"/>
          </a:xfrm>
        </p:grpSpPr>
        <p:sp>
          <p:nvSpPr>
            <p:cNvPr id="36" name="Shape 3">
              <a:extLst>
                <a:ext uri="{FF2B5EF4-FFF2-40B4-BE49-F238E27FC236}">
                  <a16:creationId xmlns:a16="http://schemas.microsoft.com/office/drawing/2014/main" id="{9D1214F8-2E7C-4D0C-F7EC-CE126A077A07}"/>
                </a:ext>
              </a:extLst>
            </p:cNvPr>
            <p:cNvSpPr/>
            <p:nvPr/>
          </p:nvSpPr>
          <p:spPr>
            <a:xfrm>
              <a:off x="10329030" y="237053"/>
              <a:ext cx="2923223" cy="1957983"/>
            </a:xfrm>
            <a:prstGeom prst="roundRect">
              <a:avLst>
                <a:gd name="adj" fmla="val 5604"/>
              </a:avLst>
            </a:prstGeom>
            <a:solidFill>
              <a:srgbClr val="FAF9F5"/>
            </a:solidFill>
            <a:ln w="22860">
              <a:solidFill>
                <a:srgbClr val="BFD3D8"/>
              </a:solidFill>
              <a:prstDash val="solid"/>
            </a:ln>
          </p:spPr>
          <p:txBody>
            <a:bodyPr/>
            <a:lstStyle/>
            <a:p>
              <a:endParaRPr lang="zh-CN" altLang="en-US" sz="2000"/>
            </a:p>
          </p:txBody>
        </p:sp>
        <p:pic>
          <p:nvPicPr>
            <p:cNvPr id="37" name="Image 0" descr="preencoded.png">
              <a:extLst>
                <a:ext uri="{FF2B5EF4-FFF2-40B4-BE49-F238E27FC236}">
                  <a16:creationId xmlns:a16="http://schemas.microsoft.com/office/drawing/2014/main" id="{EADB09A9-E3E6-1809-3F3D-0F9C8EF68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06170" y="237053"/>
              <a:ext cx="91440" cy="1957983"/>
            </a:xfrm>
            <a:prstGeom prst="rect">
              <a:avLst/>
            </a:prstGeom>
          </p:spPr>
        </p:pic>
      </p:grpSp>
      <p:sp>
        <p:nvSpPr>
          <p:cNvPr id="2" name="Text 0"/>
          <p:cNvSpPr/>
          <p:nvPr/>
        </p:nvSpPr>
        <p:spPr>
          <a:xfrm>
            <a:off x="674042" y="292149"/>
            <a:ext cx="4383881" cy="547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SmartProject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74042" y="937341"/>
            <a:ext cx="561403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</a:rPr>
              <a:t>A New Paradigm for Productivity Management</a:t>
            </a:r>
          </a:p>
        </p:txBody>
      </p:sp>
      <p:sp>
        <p:nvSpPr>
          <p:cNvPr id="4" name="Text 2"/>
          <p:cNvSpPr/>
          <p:nvPr/>
        </p:nvSpPr>
        <p:spPr>
          <a:xfrm>
            <a:off x="650102" y="2054720"/>
            <a:ext cx="12099608" cy="23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2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an era where flexible work is the norm, productivity management demands new metrics and frameworks.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9D2B1DB-A9BD-056B-F6AE-5BD93332FF2D}"/>
              </a:ext>
            </a:extLst>
          </p:cNvPr>
          <p:cNvGrpSpPr/>
          <p:nvPr/>
        </p:nvGrpSpPr>
        <p:grpSpPr>
          <a:xfrm>
            <a:off x="595985" y="2623136"/>
            <a:ext cx="3240036" cy="2486448"/>
            <a:chOff x="674042" y="2623136"/>
            <a:chExt cx="3240036" cy="2261647"/>
          </a:xfrm>
        </p:grpSpPr>
        <p:sp>
          <p:nvSpPr>
            <p:cNvPr id="5" name="Shape 3"/>
            <p:cNvSpPr/>
            <p:nvPr/>
          </p:nvSpPr>
          <p:spPr>
            <a:xfrm>
              <a:off x="696902" y="2623136"/>
              <a:ext cx="3217176" cy="2261647"/>
            </a:xfrm>
            <a:prstGeom prst="roundRect">
              <a:avLst>
                <a:gd name="adj" fmla="val 5604"/>
              </a:avLst>
            </a:prstGeom>
            <a:solidFill>
              <a:srgbClr val="FAF9F5"/>
            </a:solidFill>
            <a:ln w="22860">
              <a:solidFill>
                <a:srgbClr val="BFD3D8"/>
              </a:solidFill>
              <a:prstDash val="solid"/>
            </a:ln>
          </p:spPr>
          <p:txBody>
            <a:bodyPr/>
            <a:lstStyle/>
            <a:p>
              <a:endParaRPr lang="zh-CN" altLang="en-US" sz="2000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042" y="2623136"/>
              <a:ext cx="91440" cy="1957983"/>
            </a:xfrm>
            <a:prstGeom prst="rect">
              <a:avLst/>
            </a:prstGeom>
          </p:spPr>
        </p:pic>
      </p:grpSp>
      <p:sp>
        <p:nvSpPr>
          <p:cNvPr id="7" name="Text 4"/>
          <p:cNvSpPr/>
          <p:nvPr/>
        </p:nvSpPr>
        <p:spPr>
          <a:xfrm>
            <a:off x="710285" y="2821256"/>
            <a:ext cx="2999808" cy="60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WFM Faces New Challenges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85545" y="3440767"/>
            <a:ext cx="2693998" cy="1025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Flexible work models demand unprecedented real-time precision in human capital management</a:t>
            </a:r>
          </a:p>
        </p:txBody>
      </p:sp>
      <p:sp>
        <p:nvSpPr>
          <p:cNvPr id="9" name="Shape 6"/>
          <p:cNvSpPr/>
          <p:nvPr/>
        </p:nvSpPr>
        <p:spPr>
          <a:xfrm>
            <a:off x="4034616" y="2583090"/>
            <a:ext cx="3180306" cy="2503815"/>
          </a:xfrm>
          <a:prstGeom prst="roundRect">
            <a:avLst>
              <a:gd name="adj" fmla="val 5604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803" y="2717845"/>
            <a:ext cx="91440" cy="215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04408" y="2825717"/>
            <a:ext cx="2852876" cy="301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Projects as Output Units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204408" y="3440766"/>
            <a:ext cx="2852875" cy="1281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Cross-functional teams (Workforces) serving customers and products are becoming core contribution measurement units</a:t>
            </a:r>
          </a:p>
        </p:txBody>
      </p:sp>
      <p:sp>
        <p:nvSpPr>
          <p:cNvPr id="13" name="Shape 9"/>
          <p:cNvSpPr/>
          <p:nvPr/>
        </p:nvSpPr>
        <p:spPr>
          <a:xfrm>
            <a:off x="7382947" y="2661880"/>
            <a:ext cx="3314450" cy="2486448"/>
          </a:xfrm>
          <a:prstGeom prst="roundRect">
            <a:avLst>
              <a:gd name="adj" fmla="val 5604"/>
            </a:avLst>
          </a:prstGeom>
          <a:solidFill>
            <a:srgbClr val="FAF9F5"/>
          </a:solidFill>
          <a:ln w="2286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087" y="2661880"/>
            <a:ext cx="91440" cy="21526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49647" y="2860000"/>
            <a:ext cx="2834409" cy="60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PMO Takes Center Stage</a:t>
            </a: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7649647" y="3409158"/>
            <a:ext cx="2876505" cy="941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managers increasingly replace functional managers as primary delivery and resource allocation owners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939FA7B-9676-2C7F-FCDB-C2C5C8C5AA1C}"/>
              </a:ext>
            </a:extLst>
          </p:cNvPr>
          <p:cNvGrpSpPr/>
          <p:nvPr/>
        </p:nvGrpSpPr>
        <p:grpSpPr>
          <a:xfrm>
            <a:off x="10791683" y="2653980"/>
            <a:ext cx="3406803" cy="2503815"/>
            <a:chOff x="10418802" y="2623136"/>
            <a:chExt cx="2978735" cy="2277444"/>
          </a:xfrm>
        </p:grpSpPr>
        <p:sp>
          <p:nvSpPr>
            <p:cNvPr id="17" name="Shape 12"/>
            <p:cNvSpPr/>
            <p:nvPr/>
          </p:nvSpPr>
          <p:spPr>
            <a:xfrm>
              <a:off x="10474195" y="2623136"/>
              <a:ext cx="2923342" cy="2277444"/>
            </a:xfrm>
            <a:prstGeom prst="roundRect">
              <a:avLst>
                <a:gd name="adj" fmla="val 5604"/>
              </a:avLst>
            </a:prstGeom>
            <a:solidFill>
              <a:srgbClr val="FAF9F5"/>
            </a:solidFill>
            <a:ln w="22860">
              <a:solidFill>
                <a:srgbClr val="BFD3D8"/>
              </a:solidFill>
              <a:prstDash val="solid"/>
            </a:ln>
          </p:spPr>
          <p:txBody>
            <a:bodyPr/>
            <a:lstStyle/>
            <a:p>
              <a:endParaRPr lang="zh-CN" altLang="en-US" sz="2000"/>
            </a:p>
          </p:txBody>
        </p: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18802" y="2661880"/>
              <a:ext cx="91440" cy="1957983"/>
            </a:xfrm>
            <a:prstGeom prst="rect">
              <a:avLst/>
            </a:prstGeom>
          </p:spPr>
        </p:pic>
      </p:grpSp>
      <p:sp>
        <p:nvSpPr>
          <p:cNvPr id="19" name="Text 13"/>
          <p:cNvSpPr/>
          <p:nvPr/>
        </p:nvSpPr>
        <p:spPr>
          <a:xfrm>
            <a:off x="10979584" y="2797651"/>
            <a:ext cx="2976773" cy="60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Projects as Profit Centers</a:t>
            </a: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10979584" y="3403148"/>
            <a:ext cx="2953914" cy="1025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Project-based resource allocation and cost accounting enable true enterprise-level refined management</a:t>
            </a:r>
          </a:p>
        </p:txBody>
      </p:sp>
      <p:sp>
        <p:nvSpPr>
          <p:cNvPr id="24" name="Text 16"/>
          <p:cNvSpPr/>
          <p:nvPr/>
        </p:nvSpPr>
        <p:spPr>
          <a:xfrm>
            <a:off x="1448276" y="5572619"/>
            <a:ext cx="3314819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Person/Day Resource Scheduling</a:t>
            </a: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1480809" y="6219884"/>
            <a:ext cx="3577114" cy="466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 project resources and assess contributions in granular person-day units</a:t>
            </a:r>
          </a:p>
        </p:txBody>
      </p:sp>
      <p:sp>
        <p:nvSpPr>
          <p:cNvPr id="29" name="Text 19"/>
          <p:cNvSpPr/>
          <p:nvPr/>
        </p:nvSpPr>
        <p:spPr>
          <a:xfrm>
            <a:off x="5870166" y="5603238"/>
            <a:ext cx="2942272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Precision Productivity Control</a:t>
            </a:r>
            <a:endParaRPr lang="en-US" dirty="0"/>
          </a:p>
        </p:txBody>
      </p:sp>
      <p:sp>
        <p:nvSpPr>
          <p:cNvPr id="30" name="Text 20"/>
          <p:cNvSpPr/>
          <p:nvPr/>
        </p:nvSpPr>
        <p:spPr>
          <a:xfrm>
            <a:off x="5748184" y="6234706"/>
            <a:ext cx="3577114" cy="466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on-time, high-quality delivery while maintaining precise productivity oversight</a:t>
            </a:r>
          </a:p>
        </p:txBody>
      </p:sp>
      <p:sp>
        <p:nvSpPr>
          <p:cNvPr id="34" name="Text 22"/>
          <p:cNvSpPr/>
          <p:nvPr/>
        </p:nvSpPr>
        <p:spPr>
          <a:xfrm>
            <a:off x="9841349" y="5572620"/>
            <a:ext cx="3340775" cy="273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Contribution as 4th Dimension</a:t>
            </a:r>
            <a:endParaRPr lang="en-US" dirty="0"/>
          </a:p>
        </p:txBody>
      </p:sp>
      <p:sp>
        <p:nvSpPr>
          <p:cNvPr id="35" name="Text 23"/>
          <p:cNvSpPr/>
          <p:nvPr/>
        </p:nvSpPr>
        <p:spPr>
          <a:xfrm>
            <a:off x="9820423" y="6001582"/>
            <a:ext cx="3577114" cy="932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Employee project performance feeds into Talenturbo as a fourth assessment dimension, creating comprehensive talent panoramas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>
            <a:extLst>
              <a:ext uri="{FF2B5EF4-FFF2-40B4-BE49-F238E27FC236}">
                <a16:creationId xmlns:a16="http://schemas.microsoft.com/office/drawing/2014/main" id="{E357FDDB-A7E2-0CEB-9FBA-3F96D5E54043}"/>
              </a:ext>
            </a:extLst>
          </p:cNvPr>
          <p:cNvGrpSpPr/>
          <p:nvPr/>
        </p:nvGrpSpPr>
        <p:grpSpPr>
          <a:xfrm>
            <a:off x="5350898" y="2394690"/>
            <a:ext cx="4122667" cy="2261647"/>
            <a:chOff x="674042" y="2623136"/>
            <a:chExt cx="3240036" cy="2261647"/>
          </a:xfrm>
        </p:grpSpPr>
        <p:sp>
          <p:nvSpPr>
            <p:cNvPr id="51" name="Shape 3">
              <a:extLst>
                <a:ext uri="{FF2B5EF4-FFF2-40B4-BE49-F238E27FC236}">
                  <a16:creationId xmlns:a16="http://schemas.microsoft.com/office/drawing/2014/main" id="{3A9EE333-46E9-138A-5336-9AD68EC0F509}"/>
                </a:ext>
              </a:extLst>
            </p:cNvPr>
            <p:cNvSpPr/>
            <p:nvPr/>
          </p:nvSpPr>
          <p:spPr>
            <a:xfrm>
              <a:off x="696902" y="2623136"/>
              <a:ext cx="3217176" cy="2261647"/>
            </a:xfrm>
            <a:prstGeom prst="roundRect">
              <a:avLst>
                <a:gd name="adj" fmla="val 5604"/>
              </a:avLst>
            </a:prstGeom>
            <a:solidFill>
              <a:srgbClr val="FAF9F5"/>
            </a:solidFill>
            <a:ln w="22860">
              <a:solidFill>
                <a:srgbClr val="BFD3D8"/>
              </a:solidFill>
              <a:prstDash val="solid"/>
            </a:ln>
          </p:spPr>
          <p:txBody>
            <a:bodyPr/>
            <a:lstStyle/>
            <a:p>
              <a:endParaRPr lang="zh-CN" altLang="en-US" sz="2000"/>
            </a:p>
          </p:txBody>
        </p:sp>
        <p:pic>
          <p:nvPicPr>
            <p:cNvPr id="52" name="Image 0" descr="preencoded.png">
              <a:extLst>
                <a:ext uri="{FF2B5EF4-FFF2-40B4-BE49-F238E27FC236}">
                  <a16:creationId xmlns:a16="http://schemas.microsoft.com/office/drawing/2014/main" id="{5CE707B9-2B97-E1FA-0415-C752832F8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042" y="2623136"/>
              <a:ext cx="91440" cy="1957983"/>
            </a:xfrm>
            <a:prstGeom prst="rect">
              <a:avLst/>
            </a:prstGeom>
          </p:spPr>
        </p:pic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09E6F187-C63E-9192-503E-8AAC477E2E63}"/>
              </a:ext>
            </a:extLst>
          </p:cNvPr>
          <p:cNvGrpSpPr/>
          <p:nvPr/>
        </p:nvGrpSpPr>
        <p:grpSpPr>
          <a:xfrm>
            <a:off x="9910606" y="5035537"/>
            <a:ext cx="4122667" cy="2261647"/>
            <a:chOff x="674042" y="2623136"/>
            <a:chExt cx="3240036" cy="2261647"/>
          </a:xfrm>
        </p:grpSpPr>
        <p:sp>
          <p:nvSpPr>
            <p:cNvPr id="45" name="Shape 3">
              <a:extLst>
                <a:ext uri="{FF2B5EF4-FFF2-40B4-BE49-F238E27FC236}">
                  <a16:creationId xmlns:a16="http://schemas.microsoft.com/office/drawing/2014/main" id="{C7A01818-DC08-8A51-3232-1FBCAF0B66BE}"/>
                </a:ext>
              </a:extLst>
            </p:cNvPr>
            <p:cNvSpPr/>
            <p:nvPr/>
          </p:nvSpPr>
          <p:spPr>
            <a:xfrm>
              <a:off x="696902" y="2623136"/>
              <a:ext cx="3217176" cy="2261647"/>
            </a:xfrm>
            <a:prstGeom prst="roundRect">
              <a:avLst>
                <a:gd name="adj" fmla="val 5604"/>
              </a:avLst>
            </a:prstGeom>
            <a:solidFill>
              <a:srgbClr val="FAF9F5"/>
            </a:solidFill>
            <a:ln w="22860">
              <a:solidFill>
                <a:srgbClr val="BFD3D8"/>
              </a:solidFill>
              <a:prstDash val="solid"/>
            </a:ln>
          </p:spPr>
          <p:txBody>
            <a:bodyPr/>
            <a:lstStyle/>
            <a:p>
              <a:endParaRPr lang="zh-CN" altLang="en-US" sz="2000"/>
            </a:p>
          </p:txBody>
        </p:sp>
        <p:pic>
          <p:nvPicPr>
            <p:cNvPr id="46" name="Image 0" descr="preencoded.png">
              <a:extLst>
                <a:ext uri="{FF2B5EF4-FFF2-40B4-BE49-F238E27FC236}">
                  <a16:creationId xmlns:a16="http://schemas.microsoft.com/office/drawing/2014/main" id="{0CCBC531-1261-3F00-6F3F-BC66AEE72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042" y="2623136"/>
              <a:ext cx="91440" cy="1957983"/>
            </a:xfrm>
            <a:prstGeom prst="rect">
              <a:avLst/>
            </a:prstGeom>
          </p:spPr>
        </p:pic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2E2C31E5-B331-0034-C000-E7AEDB8C8F92}"/>
              </a:ext>
            </a:extLst>
          </p:cNvPr>
          <p:cNvGrpSpPr/>
          <p:nvPr/>
        </p:nvGrpSpPr>
        <p:grpSpPr>
          <a:xfrm>
            <a:off x="5375033" y="5035538"/>
            <a:ext cx="4122667" cy="2261647"/>
            <a:chOff x="674042" y="2623136"/>
            <a:chExt cx="3240036" cy="2261647"/>
          </a:xfrm>
        </p:grpSpPr>
        <p:sp>
          <p:nvSpPr>
            <p:cNvPr id="48" name="Shape 3">
              <a:extLst>
                <a:ext uri="{FF2B5EF4-FFF2-40B4-BE49-F238E27FC236}">
                  <a16:creationId xmlns:a16="http://schemas.microsoft.com/office/drawing/2014/main" id="{39C43E66-DCA9-E5FD-B779-5C1B0797A958}"/>
                </a:ext>
              </a:extLst>
            </p:cNvPr>
            <p:cNvSpPr/>
            <p:nvPr/>
          </p:nvSpPr>
          <p:spPr>
            <a:xfrm>
              <a:off x="696902" y="2623136"/>
              <a:ext cx="3217176" cy="2261647"/>
            </a:xfrm>
            <a:prstGeom prst="roundRect">
              <a:avLst>
                <a:gd name="adj" fmla="val 5604"/>
              </a:avLst>
            </a:prstGeom>
            <a:solidFill>
              <a:srgbClr val="FAF9F5"/>
            </a:solidFill>
            <a:ln w="22860">
              <a:solidFill>
                <a:srgbClr val="BFD3D8"/>
              </a:solidFill>
              <a:prstDash val="solid"/>
            </a:ln>
          </p:spPr>
          <p:txBody>
            <a:bodyPr/>
            <a:lstStyle/>
            <a:p>
              <a:endParaRPr lang="zh-CN" altLang="en-US" sz="2000"/>
            </a:p>
          </p:txBody>
        </p:sp>
        <p:pic>
          <p:nvPicPr>
            <p:cNvPr id="49" name="Image 0" descr="preencoded.png">
              <a:extLst>
                <a:ext uri="{FF2B5EF4-FFF2-40B4-BE49-F238E27FC236}">
                  <a16:creationId xmlns:a16="http://schemas.microsoft.com/office/drawing/2014/main" id="{2529FFE3-9EFB-FB90-B8F1-74D0CE88A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042" y="2623136"/>
              <a:ext cx="91440" cy="1957983"/>
            </a:xfrm>
            <a:prstGeom prst="rect">
              <a:avLst/>
            </a:prstGeom>
          </p:spPr>
        </p:pic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5467DE5-E6B1-A42E-6841-EC5E5AC571C9}"/>
              </a:ext>
            </a:extLst>
          </p:cNvPr>
          <p:cNvGrpSpPr/>
          <p:nvPr/>
        </p:nvGrpSpPr>
        <p:grpSpPr>
          <a:xfrm>
            <a:off x="702714" y="5045148"/>
            <a:ext cx="4122667" cy="2261647"/>
            <a:chOff x="674042" y="2623136"/>
            <a:chExt cx="3240036" cy="2261647"/>
          </a:xfrm>
        </p:grpSpPr>
        <p:sp>
          <p:nvSpPr>
            <p:cNvPr id="42" name="Shape 3">
              <a:extLst>
                <a:ext uri="{FF2B5EF4-FFF2-40B4-BE49-F238E27FC236}">
                  <a16:creationId xmlns:a16="http://schemas.microsoft.com/office/drawing/2014/main" id="{3AA838BE-B15C-74B2-B635-8D2F802FA130}"/>
                </a:ext>
              </a:extLst>
            </p:cNvPr>
            <p:cNvSpPr/>
            <p:nvPr/>
          </p:nvSpPr>
          <p:spPr>
            <a:xfrm>
              <a:off x="696902" y="2623136"/>
              <a:ext cx="3217176" cy="2261647"/>
            </a:xfrm>
            <a:prstGeom prst="roundRect">
              <a:avLst>
                <a:gd name="adj" fmla="val 5604"/>
              </a:avLst>
            </a:prstGeom>
            <a:solidFill>
              <a:srgbClr val="FAF9F5"/>
            </a:solidFill>
            <a:ln w="22860">
              <a:solidFill>
                <a:srgbClr val="BFD3D8"/>
              </a:solidFill>
              <a:prstDash val="solid"/>
            </a:ln>
          </p:spPr>
          <p:txBody>
            <a:bodyPr/>
            <a:lstStyle/>
            <a:p>
              <a:endParaRPr lang="zh-CN" altLang="en-US" sz="2000"/>
            </a:p>
          </p:txBody>
        </p:sp>
        <p:pic>
          <p:nvPicPr>
            <p:cNvPr id="43" name="Image 0" descr="preencoded.png">
              <a:extLst>
                <a:ext uri="{FF2B5EF4-FFF2-40B4-BE49-F238E27FC236}">
                  <a16:creationId xmlns:a16="http://schemas.microsoft.com/office/drawing/2014/main" id="{D50C3950-8DD6-CC74-7A21-1B6B2DBED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042" y="2623136"/>
              <a:ext cx="91440" cy="1957983"/>
            </a:xfrm>
            <a:prstGeom prst="rect">
              <a:avLst/>
            </a:prstGeom>
          </p:spPr>
        </p:pic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A84F44A-B49C-0467-2C11-A8F83B58653C}"/>
              </a:ext>
            </a:extLst>
          </p:cNvPr>
          <p:cNvGrpSpPr/>
          <p:nvPr/>
        </p:nvGrpSpPr>
        <p:grpSpPr>
          <a:xfrm>
            <a:off x="9884219" y="2426729"/>
            <a:ext cx="4149054" cy="2261647"/>
            <a:chOff x="674042" y="2623136"/>
            <a:chExt cx="3240036" cy="2261647"/>
          </a:xfrm>
        </p:grpSpPr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C8A47548-5BF9-6FCD-5353-FC12A37110F1}"/>
                </a:ext>
              </a:extLst>
            </p:cNvPr>
            <p:cNvSpPr/>
            <p:nvPr/>
          </p:nvSpPr>
          <p:spPr>
            <a:xfrm>
              <a:off x="696902" y="2623136"/>
              <a:ext cx="3217176" cy="2261647"/>
            </a:xfrm>
            <a:prstGeom prst="roundRect">
              <a:avLst>
                <a:gd name="adj" fmla="val 5604"/>
              </a:avLst>
            </a:prstGeom>
            <a:solidFill>
              <a:srgbClr val="FAF9F5"/>
            </a:solidFill>
            <a:ln w="22860">
              <a:solidFill>
                <a:srgbClr val="BFD3D8"/>
              </a:solidFill>
              <a:prstDash val="solid"/>
            </a:ln>
          </p:spPr>
          <p:txBody>
            <a:bodyPr/>
            <a:lstStyle/>
            <a:p>
              <a:endParaRPr lang="zh-CN" altLang="en-US" sz="2000"/>
            </a:p>
          </p:txBody>
        </p:sp>
        <p:pic>
          <p:nvPicPr>
            <p:cNvPr id="40" name="Image 0" descr="preencoded.png">
              <a:extLst>
                <a:ext uri="{FF2B5EF4-FFF2-40B4-BE49-F238E27FC236}">
                  <a16:creationId xmlns:a16="http://schemas.microsoft.com/office/drawing/2014/main" id="{C108CF9D-71AD-52A2-0E8A-BBA3F2102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042" y="2623136"/>
              <a:ext cx="91440" cy="1957983"/>
            </a:xfrm>
            <a:prstGeom prst="rect">
              <a:avLst/>
            </a:prstGeom>
          </p:spPr>
        </p:pic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D978E0D-DEA9-465B-168C-BFD5B8ACDBB7}"/>
              </a:ext>
            </a:extLst>
          </p:cNvPr>
          <p:cNvGrpSpPr/>
          <p:nvPr/>
        </p:nvGrpSpPr>
        <p:grpSpPr>
          <a:xfrm>
            <a:off x="706836" y="2386076"/>
            <a:ext cx="4151961" cy="2261647"/>
            <a:chOff x="674042" y="2623136"/>
            <a:chExt cx="3240036" cy="2261647"/>
          </a:xfrm>
        </p:grpSpPr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5D566717-5F68-3148-60E6-25B9FBE771D0}"/>
                </a:ext>
              </a:extLst>
            </p:cNvPr>
            <p:cNvSpPr/>
            <p:nvPr/>
          </p:nvSpPr>
          <p:spPr>
            <a:xfrm>
              <a:off x="696902" y="2623136"/>
              <a:ext cx="3217176" cy="2261647"/>
            </a:xfrm>
            <a:prstGeom prst="roundRect">
              <a:avLst>
                <a:gd name="adj" fmla="val 5604"/>
              </a:avLst>
            </a:prstGeom>
            <a:solidFill>
              <a:srgbClr val="FAF9F5"/>
            </a:solidFill>
            <a:ln w="22860">
              <a:solidFill>
                <a:srgbClr val="BFD3D8"/>
              </a:solidFill>
              <a:prstDash val="solid"/>
            </a:ln>
          </p:spPr>
          <p:txBody>
            <a:bodyPr/>
            <a:lstStyle/>
            <a:p>
              <a:endParaRPr lang="zh-CN" altLang="en-US" sz="2000"/>
            </a:p>
          </p:txBody>
        </p:sp>
        <p:pic>
          <p:nvPicPr>
            <p:cNvPr id="34" name="Image 0" descr="preencoded.png">
              <a:extLst>
                <a:ext uri="{FF2B5EF4-FFF2-40B4-BE49-F238E27FC236}">
                  <a16:creationId xmlns:a16="http://schemas.microsoft.com/office/drawing/2014/main" id="{97905262-ABFA-25ED-AFA6-42F3AFB24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042" y="2623136"/>
              <a:ext cx="91440" cy="1957983"/>
            </a:xfrm>
            <a:prstGeom prst="rect">
              <a:avLst/>
            </a:prstGeom>
          </p:spPr>
        </p:pic>
      </p:grpSp>
      <p:sp>
        <p:nvSpPr>
          <p:cNvPr id="2" name="Text 0"/>
          <p:cNvSpPr/>
          <p:nvPr/>
        </p:nvSpPr>
        <p:spPr>
          <a:xfrm>
            <a:off x="2244173" y="1811655"/>
            <a:ext cx="11011852" cy="203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6508" y="314417"/>
            <a:ext cx="10826353" cy="498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 err="1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SmartProfiling</a:t>
            </a:r>
            <a:endParaRPr lang="en-US" sz="3100" dirty="0">
              <a:solidFill>
                <a:srgbClr val="2E3C4E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  <a:p>
            <a:pPr marL="0" indent="0" algn="l">
              <a:lnSpc>
                <a:spcPts val="39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Next-Generation AI-Driven Talent Screening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57926" y="2611839"/>
            <a:ext cx="3364892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dirty="0">
                <a:solidFill>
                  <a:srgbClr val="384653"/>
                </a:solidFill>
                <a:latin typeface="Host Grotesk Medium" pitchFamily="34" charset="0"/>
              </a:rPr>
              <a:t>Deep Industry &amp; Role Learning</a:t>
            </a:r>
          </a:p>
        </p:txBody>
      </p:sp>
      <p:sp>
        <p:nvSpPr>
          <p:cNvPr id="8" name="Text 5"/>
          <p:cNvSpPr/>
          <p:nvPr/>
        </p:nvSpPr>
        <p:spPr>
          <a:xfrm>
            <a:off x="985678" y="3166904"/>
            <a:ext cx="3623569" cy="1303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250"/>
              </a:lnSpc>
              <a:buNone/>
            </a:pPr>
            <a:r>
              <a:rPr lang="en-US" sz="1600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SmartProfiling</a:t>
            </a: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performs deep learning on specific industries and enterprises, understanding the underlying logic behind job descriptions and CVs</a:t>
            </a:r>
          </a:p>
        </p:txBody>
      </p:sp>
      <p:sp>
        <p:nvSpPr>
          <p:cNvPr id="11" name="Text 7"/>
          <p:cNvSpPr/>
          <p:nvPr/>
        </p:nvSpPr>
        <p:spPr>
          <a:xfrm>
            <a:off x="5765287" y="2611839"/>
            <a:ext cx="2439353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Host Grotesk Medium" pitchFamily="34" charset="0"/>
              </a:rPr>
              <a:t>Beyond</a:t>
            </a: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Keyword Matching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765287" y="3078424"/>
            <a:ext cx="3279211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Leverages semantic understanding for granular capability computation, uncovering highly qualified candidates traditional screening misses</a:t>
            </a:r>
          </a:p>
        </p:txBody>
      </p:sp>
      <p:sp>
        <p:nvSpPr>
          <p:cNvPr id="15" name="Text 10"/>
          <p:cNvSpPr/>
          <p:nvPr/>
        </p:nvSpPr>
        <p:spPr>
          <a:xfrm>
            <a:off x="10043254" y="2672120"/>
            <a:ext cx="3170277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Smartisans as </a:t>
            </a:r>
            <a:r>
              <a:rPr lang="en-US" dirty="0">
                <a:solidFill>
                  <a:srgbClr val="384653"/>
                </a:solidFill>
                <a:latin typeface="Host Grotesk Medium" pitchFamily="34" charset="0"/>
              </a:rPr>
              <a:t>Computational</a:t>
            </a:r>
            <a:r>
              <a:rPr lang="en-US" sz="15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Core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0043255" y="3150196"/>
            <a:ext cx="3212772" cy="885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Optional integration with domain-specific LLMs delivers ultra-precise capability matching for technical and specialized roles</a:t>
            </a:r>
          </a:p>
        </p:txBody>
      </p:sp>
      <p:sp>
        <p:nvSpPr>
          <p:cNvPr id="18" name="Text 12"/>
          <p:cNvSpPr/>
          <p:nvPr/>
        </p:nvSpPr>
        <p:spPr>
          <a:xfrm>
            <a:off x="904521" y="5336357"/>
            <a:ext cx="2941201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Professional Role </a:t>
            </a:r>
            <a:r>
              <a:rPr lang="en-US" dirty="0">
                <a:solidFill>
                  <a:srgbClr val="384653"/>
                </a:solidFill>
                <a:latin typeface="Host Grotesk Medium" pitchFamily="34" charset="0"/>
              </a:rPr>
              <a:t>Bulk</a:t>
            </a:r>
            <a:r>
              <a:rPr lang="en-US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Screening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904521" y="5758692"/>
            <a:ext cx="3577114" cy="955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hundreds of specialized resumes efficiently with precision matching</a:t>
            </a:r>
          </a:p>
        </p:txBody>
      </p:sp>
      <p:sp>
        <p:nvSpPr>
          <p:cNvPr id="21" name="Text 14"/>
          <p:cNvSpPr/>
          <p:nvPr/>
        </p:nvSpPr>
        <p:spPr>
          <a:xfrm>
            <a:off x="5526643" y="5211961"/>
            <a:ext cx="281332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Group </a:t>
            </a:r>
            <a:r>
              <a:rPr lang="en-US" dirty="0">
                <a:solidFill>
                  <a:srgbClr val="384653"/>
                </a:solidFill>
                <a:latin typeface="Host Grotesk Medium" pitchFamily="34" charset="0"/>
              </a:rPr>
              <a:t>Interview</a:t>
            </a:r>
            <a:r>
              <a:rPr lang="en-US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&amp; Recruitment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5660304" y="5786720"/>
            <a:ext cx="3577114" cy="118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mass hiring events with intelligent candidate ranking and filtering</a:t>
            </a:r>
          </a:p>
        </p:txBody>
      </p:sp>
      <p:sp>
        <p:nvSpPr>
          <p:cNvPr id="24" name="Text 16"/>
          <p:cNvSpPr/>
          <p:nvPr/>
        </p:nvSpPr>
        <p:spPr>
          <a:xfrm>
            <a:off x="10150443" y="5162407"/>
            <a:ext cx="220884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RPO </a:t>
            </a:r>
            <a:r>
              <a:rPr lang="en-US" dirty="0">
                <a:solidFill>
                  <a:srgbClr val="384653"/>
                </a:solidFill>
                <a:latin typeface="Host Grotesk Medium" pitchFamily="34" charset="0"/>
              </a:rPr>
              <a:t>Delivery</a:t>
            </a:r>
            <a:r>
              <a:rPr lang="en-US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Excellence</a:t>
            </a: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10148765" y="5758691"/>
            <a:ext cx="3577114" cy="955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 recruitment process outsourcing with AI-powered quality and speed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605</Words>
  <Application>Microsoft Office PowerPoint</Application>
  <PresentationFormat>自定义</PresentationFormat>
  <Paragraphs>73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Host Grotesk Medium</vt:lpstr>
      <vt:lpstr>Arial</vt:lpstr>
      <vt:lpstr>Roboto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Xin Gao</dc:creator>
  <cp:lastModifiedBy>Xin Gao</cp:lastModifiedBy>
  <cp:revision>3</cp:revision>
  <dcterms:created xsi:type="dcterms:W3CDTF">2026-02-22T04:48:51Z</dcterms:created>
  <dcterms:modified xsi:type="dcterms:W3CDTF">2026-02-22T05:13:51Z</dcterms:modified>
</cp:coreProperties>
</file>