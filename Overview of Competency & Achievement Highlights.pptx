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4"/>
  </p:notesMasterIdLst>
  <p:sldIdLst>
    <p:sldId id="711" r:id="rId2"/>
    <p:sldId id="732" r:id="rId3"/>
    <p:sldId id="723" r:id="rId4"/>
    <p:sldId id="716" r:id="rId5"/>
    <p:sldId id="720" r:id="rId6"/>
    <p:sldId id="742" r:id="rId7"/>
    <p:sldId id="722" r:id="rId8"/>
    <p:sldId id="730" r:id="rId9"/>
    <p:sldId id="727" r:id="rId10"/>
    <p:sldId id="731" r:id="rId11"/>
    <p:sldId id="717" r:id="rId12"/>
    <p:sldId id="721" r:id="rId13"/>
    <p:sldId id="719" r:id="rId14"/>
    <p:sldId id="734" r:id="rId15"/>
    <p:sldId id="735" r:id="rId16"/>
    <p:sldId id="736" r:id="rId17"/>
    <p:sldId id="737" r:id="rId18"/>
    <p:sldId id="738" r:id="rId19"/>
    <p:sldId id="739" r:id="rId20"/>
    <p:sldId id="740" r:id="rId21"/>
    <p:sldId id="741" r:id="rId22"/>
    <p:sldId id="715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6EF67-B2EB-40CD-A630-464CCCF13F5D}" v="78" dt="2026-02-03T08:55:21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62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Gao" userId="9cb8bec77e6d6dad" providerId="LiveId" clId="{271B27B5-B74A-464C-A12C-345E0DD17E8B}"/>
    <pc:docChg chg="undo custSel addSld delSld modSld sldOrd modMainMaster">
      <pc:chgData name="Xin Gao" userId="9cb8bec77e6d6dad" providerId="LiveId" clId="{271B27B5-B74A-464C-A12C-345E0DD17E8B}" dt="2026-02-03T09:28:50.491" v="4676" actId="20577"/>
      <pc:docMkLst>
        <pc:docMk/>
      </pc:docMkLst>
      <pc:sldChg chg="addSp delSp modSp add del mod ord setBg">
        <pc:chgData name="Xin Gao" userId="9cb8bec77e6d6dad" providerId="LiveId" clId="{271B27B5-B74A-464C-A12C-345E0DD17E8B}" dt="2026-02-03T09:25:21.392" v="4605" actId="20577"/>
        <pc:sldMkLst>
          <pc:docMk/>
          <pc:sldMk cId="3500967455" sldId="711"/>
        </pc:sldMkLst>
        <pc:spChg chg="mod">
          <ac:chgData name="Xin Gao" userId="9cb8bec77e6d6dad" providerId="LiveId" clId="{271B27B5-B74A-464C-A12C-345E0DD17E8B}" dt="2026-02-03T09:25:21.392" v="4605" actId="20577"/>
          <ac:spMkLst>
            <pc:docMk/>
            <pc:sldMk cId="3500967455" sldId="711"/>
            <ac:spMk id="5" creationId="{00000000-0000-0000-0000-000000000000}"/>
          </ac:spMkLst>
        </pc:spChg>
        <pc:picChg chg="add mod">
          <ac:chgData name="Xin Gao" userId="9cb8bec77e6d6dad" providerId="LiveId" clId="{271B27B5-B74A-464C-A12C-345E0DD17E8B}" dt="2026-02-02T08:43:15.510" v="31" actId="1076"/>
          <ac:picMkLst>
            <pc:docMk/>
            <pc:sldMk cId="3500967455" sldId="711"/>
            <ac:picMk id="2" creationId="{47A6E18A-6B6C-C74D-9781-C7C24EBDD329}"/>
          </ac:picMkLst>
        </pc:picChg>
        <pc:picChg chg="del">
          <ac:chgData name="Xin Gao" userId="9cb8bec77e6d6dad" providerId="LiveId" clId="{271B27B5-B74A-464C-A12C-345E0DD17E8B}" dt="2026-02-02T08:41:03.799" v="9" actId="478"/>
          <ac:picMkLst>
            <pc:docMk/>
            <pc:sldMk cId="3500967455" sldId="711"/>
            <ac:picMk id="3" creationId="{E7911E61-8708-814C-945F-E005B3FA658F}"/>
          </ac:picMkLst>
        </pc:picChg>
      </pc:sldChg>
      <pc:sldChg chg="modSp mod ord">
        <pc:chgData name="Xin Gao" userId="9cb8bec77e6d6dad" providerId="LiveId" clId="{271B27B5-B74A-464C-A12C-345E0DD17E8B}" dt="2026-02-02T09:27:14.575" v="1883"/>
        <pc:sldMkLst>
          <pc:docMk/>
          <pc:sldMk cId="712850972" sldId="715"/>
        </pc:sldMkLst>
        <pc:spChg chg="mod">
          <ac:chgData name="Xin Gao" userId="9cb8bec77e6d6dad" providerId="LiveId" clId="{271B27B5-B74A-464C-A12C-345E0DD17E8B}" dt="2026-02-02T08:43:44.006" v="54" actId="20577"/>
          <ac:spMkLst>
            <pc:docMk/>
            <pc:sldMk cId="712850972" sldId="715"/>
            <ac:spMk id="3" creationId="{00000000-0000-0000-0000-000000000000}"/>
          </ac:spMkLst>
        </pc:spChg>
      </pc:sldChg>
      <pc:sldChg chg="modSp mod ord">
        <pc:chgData name="Xin Gao" userId="9cb8bec77e6d6dad" providerId="LiveId" clId="{271B27B5-B74A-464C-A12C-345E0DD17E8B}" dt="2026-02-03T09:28:50.491" v="4676" actId="20577"/>
        <pc:sldMkLst>
          <pc:docMk/>
          <pc:sldMk cId="982882764" sldId="716"/>
        </pc:sldMkLst>
        <pc:spChg chg="mod">
          <ac:chgData name="Xin Gao" userId="9cb8bec77e6d6dad" providerId="LiveId" clId="{271B27B5-B74A-464C-A12C-345E0DD17E8B}" dt="2026-02-03T09:28:50.491" v="4676" actId="20577"/>
          <ac:spMkLst>
            <pc:docMk/>
            <pc:sldMk cId="982882764" sldId="716"/>
            <ac:spMk id="4" creationId="{00000000-0000-0000-0000-000000000000}"/>
          </ac:spMkLst>
        </pc:spChg>
      </pc:sldChg>
      <pc:sldChg chg="modSp mod ord">
        <pc:chgData name="Xin Gao" userId="9cb8bec77e6d6dad" providerId="LiveId" clId="{271B27B5-B74A-464C-A12C-345E0DD17E8B}" dt="2026-02-03T09:28:42.405" v="4655" actId="20577"/>
        <pc:sldMkLst>
          <pc:docMk/>
          <pc:sldMk cId="2963147917" sldId="720"/>
        </pc:sldMkLst>
        <pc:spChg chg="mod">
          <ac:chgData name="Xin Gao" userId="9cb8bec77e6d6dad" providerId="LiveId" clId="{271B27B5-B74A-464C-A12C-345E0DD17E8B}" dt="2026-02-03T06:08:52.139" v="3765" actId="1076"/>
          <ac:spMkLst>
            <pc:docMk/>
            <pc:sldMk cId="2963147917" sldId="720"/>
            <ac:spMk id="2" creationId="{9BE80E71-52CF-407C-A0A0-6FF64F95CC3B}"/>
          </ac:spMkLst>
        </pc:spChg>
        <pc:spChg chg="mod">
          <ac:chgData name="Xin Gao" userId="9cb8bec77e6d6dad" providerId="LiveId" clId="{271B27B5-B74A-464C-A12C-345E0DD17E8B}" dt="2026-02-03T09:28:42.405" v="4655" actId="20577"/>
          <ac:spMkLst>
            <pc:docMk/>
            <pc:sldMk cId="2963147917" sldId="720"/>
            <ac:spMk id="4" creationId="{A24DD8AE-CBE7-D11E-55AE-66400759EF29}"/>
          </ac:spMkLst>
        </pc:spChg>
      </pc:sldChg>
      <pc:sldChg chg="ord">
        <pc:chgData name="Xin Gao" userId="9cb8bec77e6d6dad" providerId="LiveId" clId="{271B27B5-B74A-464C-A12C-345E0DD17E8B}" dt="2026-02-02T10:31:15.702" v="3013"/>
        <pc:sldMkLst>
          <pc:docMk/>
          <pc:sldMk cId="670621737" sldId="722"/>
        </pc:sldMkLst>
      </pc:sldChg>
      <pc:sldChg chg="modSp mod ord">
        <pc:chgData name="Xin Gao" userId="9cb8bec77e6d6dad" providerId="LiveId" clId="{271B27B5-B74A-464C-A12C-345E0DD17E8B}" dt="2026-02-03T08:54:47.284" v="4438" actId="20577"/>
        <pc:sldMkLst>
          <pc:docMk/>
          <pc:sldMk cId="474454573" sldId="723"/>
        </pc:sldMkLst>
        <pc:spChg chg="mod">
          <ac:chgData name="Xin Gao" userId="9cb8bec77e6d6dad" providerId="LiveId" clId="{271B27B5-B74A-464C-A12C-345E0DD17E8B}" dt="2026-02-03T08:20:42.426" v="4112" actId="1076"/>
          <ac:spMkLst>
            <pc:docMk/>
            <pc:sldMk cId="474454573" sldId="723"/>
            <ac:spMk id="3" creationId="{4CFAD1CB-B3CF-AF95-2597-C4A1A9DE103A}"/>
          </ac:spMkLst>
        </pc:spChg>
        <pc:spChg chg="mod">
          <ac:chgData name="Xin Gao" userId="9cb8bec77e6d6dad" providerId="LiveId" clId="{271B27B5-B74A-464C-A12C-345E0DD17E8B}" dt="2026-02-03T08:54:47.284" v="4438" actId="20577"/>
          <ac:spMkLst>
            <pc:docMk/>
            <pc:sldMk cId="474454573" sldId="723"/>
            <ac:spMk id="4" creationId="{191E7064-F203-837C-661F-D3C83663A79F}"/>
          </ac:spMkLst>
        </pc:spChg>
      </pc:sldChg>
      <pc:sldChg chg="modSp del mod ord">
        <pc:chgData name="Xin Gao" userId="9cb8bec77e6d6dad" providerId="LiveId" clId="{271B27B5-B74A-464C-A12C-345E0DD17E8B}" dt="2026-02-03T05:46:23.341" v="3214" actId="47"/>
        <pc:sldMkLst>
          <pc:docMk/>
          <pc:sldMk cId="2912454020" sldId="724"/>
        </pc:sldMkLst>
        <pc:spChg chg="mod">
          <ac:chgData name="Xin Gao" userId="9cb8bec77e6d6dad" providerId="LiveId" clId="{271B27B5-B74A-464C-A12C-345E0DD17E8B}" dt="2026-02-02T09:51:43.931" v="2321" actId="20577"/>
          <ac:spMkLst>
            <pc:docMk/>
            <pc:sldMk cId="2912454020" sldId="724"/>
            <ac:spMk id="4" creationId="{8712A27C-813D-5232-C54B-F3AC49438CCA}"/>
          </ac:spMkLst>
        </pc:spChg>
      </pc:sldChg>
      <pc:sldChg chg="modSp del mod ord">
        <pc:chgData name="Xin Gao" userId="9cb8bec77e6d6dad" providerId="LiveId" clId="{271B27B5-B74A-464C-A12C-345E0DD17E8B}" dt="2026-02-03T05:58:48.910" v="3587" actId="47"/>
        <pc:sldMkLst>
          <pc:docMk/>
          <pc:sldMk cId="934917315" sldId="725"/>
        </pc:sldMkLst>
        <pc:spChg chg="mod">
          <ac:chgData name="Xin Gao" userId="9cb8bec77e6d6dad" providerId="LiveId" clId="{271B27B5-B74A-464C-A12C-345E0DD17E8B}" dt="2026-02-02T10:02:06.097" v="2659" actId="14100"/>
          <ac:spMkLst>
            <pc:docMk/>
            <pc:sldMk cId="934917315" sldId="725"/>
            <ac:spMk id="4" creationId="{0D37C640-2185-6CF5-331D-67A50A6000AF}"/>
          </ac:spMkLst>
        </pc:spChg>
      </pc:sldChg>
      <pc:sldChg chg="modSp del mod ord">
        <pc:chgData name="Xin Gao" userId="9cb8bec77e6d6dad" providerId="LiveId" clId="{271B27B5-B74A-464C-A12C-345E0DD17E8B}" dt="2026-02-03T05:46:28.633" v="3215" actId="47"/>
        <pc:sldMkLst>
          <pc:docMk/>
          <pc:sldMk cId="2248206473" sldId="726"/>
        </pc:sldMkLst>
        <pc:spChg chg="mod">
          <ac:chgData name="Xin Gao" userId="9cb8bec77e6d6dad" providerId="LiveId" clId="{271B27B5-B74A-464C-A12C-345E0DD17E8B}" dt="2026-02-02T10:30:02.959" v="3000" actId="20577"/>
          <ac:spMkLst>
            <pc:docMk/>
            <pc:sldMk cId="2248206473" sldId="726"/>
            <ac:spMk id="4" creationId="{111416B8-F244-54B6-1CFB-EFF353866055}"/>
          </ac:spMkLst>
        </pc:spChg>
      </pc:sldChg>
      <pc:sldChg chg="ord">
        <pc:chgData name="Xin Gao" userId="9cb8bec77e6d6dad" providerId="LiveId" clId="{271B27B5-B74A-464C-A12C-345E0DD17E8B}" dt="2026-02-02T10:04:27.615" v="2748"/>
        <pc:sldMkLst>
          <pc:docMk/>
          <pc:sldMk cId="3857990456" sldId="727"/>
        </pc:sldMkLst>
      </pc:sldChg>
      <pc:sldChg chg="modSp del mod ord">
        <pc:chgData name="Xin Gao" userId="9cb8bec77e6d6dad" providerId="LiveId" clId="{271B27B5-B74A-464C-A12C-345E0DD17E8B}" dt="2026-02-03T05:47:30.602" v="3216" actId="47"/>
        <pc:sldMkLst>
          <pc:docMk/>
          <pc:sldMk cId="1992364378" sldId="728"/>
        </pc:sldMkLst>
        <pc:spChg chg="mod">
          <ac:chgData name="Xin Gao" userId="9cb8bec77e6d6dad" providerId="LiveId" clId="{271B27B5-B74A-464C-A12C-345E0DD17E8B}" dt="2026-02-02T10:30:15.816" v="3009" actId="20577"/>
          <ac:spMkLst>
            <pc:docMk/>
            <pc:sldMk cId="1992364378" sldId="728"/>
            <ac:spMk id="4" creationId="{D16A7ACF-32F0-98A1-1C94-BFB5B8824BA3}"/>
          </ac:spMkLst>
        </pc:spChg>
      </pc:sldChg>
      <pc:sldChg chg="modSp del mod ord">
        <pc:chgData name="Xin Gao" userId="9cb8bec77e6d6dad" providerId="LiveId" clId="{271B27B5-B74A-464C-A12C-345E0DD17E8B}" dt="2026-02-03T06:03:59.659" v="3610" actId="47"/>
        <pc:sldMkLst>
          <pc:docMk/>
          <pc:sldMk cId="3430852444" sldId="729"/>
        </pc:sldMkLst>
        <pc:spChg chg="mod">
          <ac:chgData name="Xin Gao" userId="9cb8bec77e6d6dad" providerId="LiveId" clId="{271B27B5-B74A-464C-A12C-345E0DD17E8B}" dt="2026-02-02T10:03:44.062" v="2746" actId="20577"/>
          <ac:spMkLst>
            <pc:docMk/>
            <pc:sldMk cId="3430852444" sldId="729"/>
            <ac:spMk id="4" creationId="{319256B2-C6AB-49B3-E61A-C3B6FD2C3EE7}"/>
          </ac:spMkLst>
        </pc:spChg>
      </pc:sldChg>
      <pc:sldChg chg="ord">
        <pc:chgData name="Xin Gao" userId="9cb8bec77e6d6dad" providerId="LiveId" clId="{271B27B5-B74A-464C-A12C-345E0DD17E8B}" dt="2026-02-02T10:04:27.615" v="2748"/>
        <pc:sldMkLst>
          <pc:docMk/>
          <pc:sldMk cId="377178323" sldId="730"/>
        </pc:sldMkLst>
      </pc:sldChg>
      <pc:sldChg chg="ord">
        <pc:chgData name="Xin Gao" userId="9cb8bec77e6d6dad" providerId="LiveId" clId="{271B27B5-B74A-464C-A12C-345E0DD17E8B}" dt="2026-02-02T10:04:27.615" v="2748"/>
        <pc:sldMkLst>
          <pc:docMk/>
          <pc:sldMk cId="520859905" sldId="731"/>
        </pc:sldMkLst>
      </pc:sldChg>
      <pc:sldChg chg="modSp add mod setBg">
        <pc:chgData name="Xin Gao" userId="9cb8bec77e6d6dad" providerId="LiveId" clId="{271B27B5-B74A-464C-A12C-345E0DD17E8B}" dt="2026-02-03T09:26:13.755" v="4623" actId="20577"/>
        <pc:sldMkLst>
          <pc:docMk/>
          <pc:sldMk cId="3331751559" sldId="732"/>
        </pc:sldMkLst>
        <pc:spChg chg="mod">
          <ac:chgData name="Xin Gao" userId="9cb8bec77e6d6dad" providerId="LiveId" clId="{271B27B5-B74A-464C-A12C-345E0DD17E8B}" dt="2026-02-03T09:26:06.671" v="4621" actId="20577"/>
          <ac:spMkLst>
            <pc:docMk/>
            <pc:sldMk cId="3331751559" sldId="732"/>
            <ac:spMk id="3" creationId="{00000000-0000-0000-0000-000000000000}"/>
          </ac:spMkLst>
        </pc:spChg>
        <pc:spChg chg="mod">
          <ac:chgData name="Xin Gao" userId="9cb8bec77e6d6dad" providerId="LiveId" clId="{271B27B5-B74A-464C-A12C-345E0DD17E8B}" dt="2026-02-03T09:26:13.755" v="4623" actId="20577"/>
          <ac:spMkLst>
            <pc:docMk/>
            <pc:sldMk cId="3331751559" sldId="732"/>
            <ac:spMk id="8" creationId="{6447E449-94C6-61B2-2A3E-FFCC9066A822}"/>
          </ac:spMkLst>
        </pc:spChg>
      </pc:sldChg>
      <pc:sldChg chg="new del">
        <pc:chgData name="Xin Gao" userId="9cb8bec77e6d6dad" providerId="LiveId" clId="{271B27B5-B74A-464C-A12C-345E0DD17E8B}" dt="2026-02-02T08:37:31.331" v="4" actId="47"/>
        <pc:sldMkLst>
          <pc:docMk/>
          <pc:sldMk cId="3496443567" sldId="732"/>
        </pc:sldMkLst>
      </pc:sldChg>
      <pc:sldChg chg="addSp delSp modSp new del mod">
        <pc:chgData name="Xin Gao" userId="9cb8bec77e6d6dad" providerId="LiveId" clId="{271B27B5-B74A-464C-A12C-345E0DD17E8B}" dt="2026-02-03T06:03:59.675" v="3611" actId="47"/>
        <pc:sldMkLst>
          <pc:docMk/>
          <pc:sldMk cId="327775238" sldId="733"/>
        </pc:sldMkLst>
        <pc:spChg chg="del">
          <ac:chgData name="Xin Gao" userId="9cb8bec77e6d6dad" providerId="LiveId" clId="{271B27B5-B74A-464C-A12C-345E0DD17E8B}" dt="2026-02-02T10:04:37.928" v="2751" actId="478"/>
          <ac:spMkLst>
            <pc:docMk/>
            <pc:sldMk cId="327775238" sldId="733"/>
            <ac:spMk id="2" creationId="{A96E4B93-021C-1A1F-8F20-D4876909F6D0}"/>
          </ac:spMkLst>
        </pc:spChg>
        <pc:spChg chg="del">
          <ac:chgData name="Xin Gao" userId="9cb8bec77e6d6dad" providerId="LiveId" clId="{271B27B5-B74A-464C-A12C-345E0DD17E8B}" dt="2026-02-02T10:04:35.911" v="2750" actId="478"/>
          <ac:spMkLst>
            <pc:docMk/>
            <pc:sldMk cId="327775238" sldId="733"/>
            <ac:spMk id="3" creationId="{4BFF6C6C-8804-736C-5C62-19B529747F6D}"/>
          </ac:spMkLst>
        </pc:spChg>
        <pc:spChg chg="add mod">
          <ac:chgData name="Xin Gao" userId="9cb8bec77e6d6dad" providerId="LiveId" clId="{271B27B5-B74A-464C-A12C-345E0DD17E8B}" dt="2026-02-02T10:05:11.049" v="2771" actId="1076"/>
          <ac:spMkLst>
            <pc:docMk/>
            <pc:sldMk cId="327775238" sldId="733"/>
            <ac:spMk id="4" creationId="{A08FFB92-86C6-31BD-36F0-BCB99A29F190}"/>
          </ac:spMkLst>
        </pc:spChg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148159142" sldId="734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2232062989" sldId="734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1108576050" sldId="735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1297535323" sldId="735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662989185" sldId="736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1053964179" sldId="736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2399071095" sldId="737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3697742483" sldId="737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72581777" sldId="738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2810510580" sldId="738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3155334589" sldId="739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3556604930" sldId="739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2435556823" sldId="740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2671071606" sldId="740"/>
        </pc:sldMkLst>
      </pc:sldChg>
      <pc:sldChg chg="add">
        <pc:chgData name="Xin Gao" userId="9cb8bec77e6d6dad" providerId="LiveId" clId="{271B27B5-B74A-464C-A12C-345E0DD17E8B}" dt="2026-02-03T05:40:19.031" v="3161"/>
        <pc:sldMkLst>
          <pc:docMk/>
          <pc:sldMk cId="587007449" sldId="741"/>
        </pc:sldMkLst>
      </pc:sldChg>
      <pc:sldChg chg="add del">
        <pc:chgData name="Xin Gao" userId="9cb8bec77e6d6dad" providerId="LiveId" clId="{271B27B5-B74A-464C-A12C-345E0DD17E8B}" dt="2026-02-03T05:40:09.010" v="3160"/>
        <pc:sldMkLst>
          <pc:docMk/>
          <pc:sldMk cId="3108090299" sldId="741"/>
        </pc:sldMkLst>
      </pc:sldChg>
      <pc:sldChg chg="delSp modSp new mod">
        <pc:chgData name="Xin Gao" userId="9cb8bec77e6d6dad" providerId="LiveId" clId="{271B27B5-B74A-464C-A12C-345E0DD17E8B}" dt="2026-02-03T06:09:37.214" v="3782" actId="20577"/>
        <pc:sldMkLst>
          <pc:docMk/>
          <pc:sldMk cId="505302242" sldId="742"/>
        </pc:sldMkLst>
        <pc:spChg chg="mod">
          <ac:chgData name="Xin Gao" userId="9cb8bec77e6d6dad" providerId="LiveId" clId="{271B27B5-B74A-464C-A12C-345E0DD17E8B}" dt="2026-02-03T06:09:37.214" v="3782" actId="20577"/>
          <ac:spMkLst>
            <pc:docMk/>
            <pc:sldMk cId="505302242" sldId="742"/>
            <ac:spMk id="2" creationId="{4FD5C690-77F9-04A2-F900-C8C56C3E221D}"/>
          </ac:spMkLst>
        </pc:spChg>
        <pc:spChg chg="del">
          <ac:chgData name="Xin Gao" userId="9cb8bec77e6d6dad" providerId="LiveId" clId="{271B27B5-B74A-464C-A12C-345E0DD17E8B}" dt="2026-02-03T06:09:29.412" v="3767" actId="478"/>
          <ac:spMkLst>
            <pc:docMk/>
            <pc:sldMk cId="505302242" sldId="742"/>
            <ac:spMk id="3" creationId="{27AE217B-DFC2-27F1-87D7-EAE6C503F5F8}"/>
          </ac:spMkLst>
        </pc:spChg>
      </pc:sldChg>
      <pc:sldMasterChg chg="setBg modSldLayout">
        <pc:chgData name="Xin Gao" userId="9cb8bec77e6d6dad" providerId="LiveId" clId="{271B27B5-B74A-464C-A12C-345E0DD17E8B}" dt="2026-02-03T08:43:43.130" v="4264"/>
        <pc:sldMasterMkLst>
          <pc:docMk/>
          <pc:sldMasterMk cId="2851229291" sldId="2147483720"/>
        </pc:sldMasterMkLst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2234331023" sldId="2147483721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515428180" sldId="2147483722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81934947" sldId="2147483723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1658525768" sldId="2147483724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876710279" sldId="2147483725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2713511435" sldId="2147483726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845068526" sldId="2147483727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785121099" sldId="2147483728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3000643335" sldId="2147483729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3205693565" sldId="2147483730"/>
          </pc:sldLayoutMkLst>
        </pc:sldLayoutChg>
        <pc:sldLayoutChg chg="setBg">
          <pc:chgData name="Xin Gao" userId="9cb8bec77e6d6dad" providerId="LiveId" clId="{271B27B5-B74A-464C-A12C-345E0DD17E8B}" dt="2026-02-03T08:43:43.130" v="4264"/>
          <pc:sldLayoutMkLst>
            <pc:docMk/>
            <pc:sldMasterMk cId="2851229291" sldId="2147483720"/>
            <pc:sldLayoutMk cId="4197726094" sldId="214748373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70FA5-F078-4F7F-A763-8CDF97E1FD4D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020C8-477E-406D-A27A-E3426002F9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19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defRPr/>
            </a:pPr>
            <a:fld id="{B8BA421B-22A2-4355-ACCA-99A95EE96169}" type="slidenum">
              <a:rPr lang="zh-CN" altLang="en-US">
                <a:solidFill>
                  <a:srgbClr val="000000"/>
                </a:solidFill>
              </a:rPr>
              <a:pPr eaLnBrk="1" hangingPunct="1">
                <a:defRPr/>
              </a:pPr>
              <a:t>1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38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Global HR to provide HR consulting service across APAC + EMEA, with focus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Streamline HR organization by reviewing and coaching current HR team in COE+SSC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global project team, to ensure SAP SF’s on time deployment in 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internal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20C8-477E-406D-A27A-E3426002F9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53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1E19A-DBA8-EF25-BF31-5042BBEB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62B1D9-E46A-06FD-1864-69A45CD98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CEC51E-CD2B-08F1-C0B1-79B1F2E0B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Global HR to provide HR consulting service across APAC + EMEA, with focus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Streamline HR organization by reviewing and coaching current HR team in COE+SSC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global project team, to ensure SAP SF’s on time deployment in region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internal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17F74D-E259-7955-C932-71F634FF3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020C8-477E-406D-A27A-E3426002F9D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827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B1A642-1E1C-42DA-97FB-7BBC8B67D5B3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C58587-D818-4691-A342-03B38A05D293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33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B3240-C3BD-44F0-B5B6-B86F737C8C7E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23AADC-BF9E-4DAB-9DA5-1238CA50D7B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42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C447E-D833-4CBF-812F-F00DE0B3732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41315-3572-47F3-9610-A7F1D88B276C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3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60CA00-2195-4DD0-B8B4-AA39F69289D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42470-FF5A-41C1-A288-0C3CD2136AC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52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7A8AE-0080-4BEC-9D61-165FCA1863C6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84637-9466-477B-84B3-9666C1F1B34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7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7690E-057B-467A-826A-A224F9D95B7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892C06-F3A8-4D64-A539-B49EED3C17D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51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4A54-10AA-4BAB-80A5-0417DA7E8FF4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3917E-4BAE-49EA-BEC1-1DFEFD02630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06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E3872-F331-4129-A228-B88EA3883B2A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18850-E8CF-4F4E-B291-FA21F8910D82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12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3BEA0-2672-480B-BC3C-B4BD4A8F5049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DA66F-40F7-4D6A-B293-D9A68593E1E5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64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7654E-1D1F-42C2-8BFC-8A07EC6A852D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B30A87-2EBA-4755-95C6-D6809BF9E99D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69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D4C28-64FF-4980-ADAE-FA66C03BFE38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BF66C-024B-40DB-9ED4-9A0CE45AE897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72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DE72F48-D7C4-4AFF-A276-0B8D7729640C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2026/2/3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62D6031-BF19-42FD-904D-1233696642CA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22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3528" y="260648"/>
            <a:ext cx="849694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ea typeface=".萍方-简" panose="020B0400000000000000" pitchFamily="34" charset="-122"/>
                <a:sym typeface="+mn-ea"/>
              </a:rPr>
              <a:t>Some Facts </a:t>
            </a:r>
          </a:p>
          <a:p>
            <a:endParaRPr lang="en-US" altLang="zh-CN" sz="2000" dirty="0">
              <a:ea typeface=".萍方-简" panose="020B0400000000000000" pitchFamily="34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Seasoned professional in Human Resource Management, offering </a:t>
            </a: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comprehensive HR consulting services 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from strategic design to operational execution, covering various industries.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Member of </a:t>
            </a:r>
            <a:r>
              <a:rPr lang="en-US" altLang="zh-CN" sz="2000" b="1" dirty="0" err="1">
                <a:ea typeface=".萍方-简" panose="020B0400000000000000" pitchFamily="34" charset="-122"/>
                <a:sym typeface="+mn-ea"/>
              </a:rPr>
              <a:t>WorldatWork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 and </a:t>
            </a: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GPMIP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Speaker of the Year, 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 2019 HREC.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Certified Visiting Lecturer at Xi'an </a:t>
            </a:r>
            <a:r>
              <a:rPr lang="en-US" altLang="zh-CN" sz="2000" dirty="0" err="1">
                <a:ea typeface=".萍方-简" panose="020B0400000000000000" pitchFamily="34" charset="-122"/>
                <a:sym typeface="+mn-ea"/>
              </a:rPr>
              <a:t>Jiaotong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-Liverpool University.</a:t>
            </a:r>
            <a:br>
              <a:rPr lang="en-US" altLang="zh-CN" sz="2000" dirty="0">
                <a:ea typeface=".萍方-简" panose="020B0400000000000000" pitchFamily="34" charset="-122"/>
                <a:sym typeface="+mn-ea"/>
              </a:rPr>
            </a:br>
            <a:endParaRPr lang="en-US" altLang="zh-CN" sz="2000" dirty="0">
              <a:ea typeface=".萍方-简" panose="020B0400000000000000" pitchFamily="34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ea typeface=".萍方-简" panose="020B0400000000000000" pitchFamily="34" charset="-122"/>
              <a:sym typeface="+mn-ea"/>
            </a:endParaRP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Career Experience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Worked at MNCs including </a:t>
            </a: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Kraft, Baxter, Coca-Cola, Honeywell, Lucent, NXP, J&amp;, SAP.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Served as (Senior) </a:t>
            </a: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HR Director 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at SAP, NXP, and Reckitt.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Held </a:t>
            </a:r>
            <a:r>
              <a:rPr lang="en-US" altLang="zh-CN" sz="2000" b="1" dirty="0">
                <a:ea typeface=".萍方-简" panose="020B0400000000000000" pitchFamily="34" charset="-122"/>
                <a:sym typeface="+mn-ea"/>
              </a:rPr>
              <a:t>HR Manager </a:t>
            </a: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roles at Coca-Cola, Honeywell, and Lucent.</a:t>
            </a:r>
          </a:p>
          <a:p>
            <a:pPr marL="3486150" lvl="7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.萍方-简" panose="020B0400000000000000" pitchFamily="34" charset="-122"/>
                <a:sym typeface="+mn-ea"/>
              </a:rPr>
              <a:t>Expertise: Extensive experience across various facets of human resource management.</a:t>
            </a:r>
            <a:endParaRPr lang="en-US" altLang="zh-CN" sz="2000" dirty="0">
              <a:ea typeface=".萍方-简" panose="020B0400000000000000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7A6E18A-6B6C-C74D-9781-C7C24EBD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121510"/>
            <a:ext cx="3492217" cy="232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6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48053" y="116632"/>
            <a:ext cx="367979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What makes me UNIQUE?</a:t>
            </a:r>
            <a:endParaRPr lang="en-US" sz="2100" b="1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47E449-94C6-61B2-2A3E-FFCC9066A822}"/>
              </a:ext>
            </a:extLst>
          </p:cNvPr>
          <p:cNvSpPr txBox="1"/>
          <p:nvPr/>
        </p:nvSpPr>
        <p:spPr>
          <a:xfrm>
            <a:off x="319922" y="692696"/>
            <a:ext cx="85041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One takeaway learned at Reckitt (which I fully agree with) :</a:t>
            </a:r>
            <a:br>
              <a:rPr lang="en-US" altLang="zh-CN" i="1" dirty="0"/>
            </a:br>
            <a:r>
              <a:rPr lang="en-US" altLang="zh-CN" i="1" dirty="0"/>
              <a:t>Leveraging your </a:t>
            </a:r>
            <a:r>
              <a:rPr lang="en-US" altLang="zh-CN" b="1" i="1" dirty="0"/>
              <a:t>strengths</a:t>
            </a:r>
            <a:r>
              <a:rPr lang="en-US" altLang="zh-CN" i="1" dirty="0"/>
              <a:t> is what ultimately drives </a:t>
            </a:r>
            <a:r>
              <a:rPr lang="en-US" altLang="zh-CN" b="1" i="1" dirty="0"/>
              <a:t>success</a:t>
            </a:r>
            <a:r>
              <a:rPr lang="en-US" altLang="zh-CN" i="1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My key competencies and strengths: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/>
              <a:t>Strong logic thinking</a:t>
            </a:r>
            <a:r>
              <a:rPr lang="en-US" altLang="zh-CN" dirty="0"/>
              <a:t>, from rigorous mathematical training in early years.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Consistently apply structured, analytical thinking to solve complex problems—delivering high-quality outcomes on time.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Confidently build frameworks from scratch and design creative solutions when needed (e.g., pre-IPO LTI program design).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Thinking</a:t>
            </a:r>
            <a:r>
              <a:rPr lang="en-US" altLang="zh-CN" b="1" dirty="0"/>
              <a:t> like a business owner </a:t>
            </a:r>
            <a:r>
              <a:rPr lang="en-US" altLang="zh-CN" dirty="0"/>
              <a:t>rather than just a service provider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All projects are delivered by putting long-term customer experience</a:t>
            </a:r>
            <a:r>
              <a:rPr lang="zh-CN" altLang="en-US" dirty="0"/>
              <a:t> </a:t>
            </a:r>
            <a:r>
              <a:rPr lang="en-US" altLang="zh-CN" dirty="0"/>
              <a:t>top priority, e.g. tailor-made toolkits, culture fit,</a:t>
            </a:r>
            <a:r>
              <a:rPr lang="zh-CN" altLang="en-US" dirty="0"/>
              <a:t> </a:t>
            </a:r>
            <a:r>
              <a:rPr lang="en-US" altLang="zh-CN" dirty="0"/>
              <a:t>long-tail follow up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Solid </a:t>
            </a:r>
            <a:r>
              <a:rPr lang="en-US" altLang="zh-CN" b="1" dirty="0"/>
              <a:t> </a:t>
            </a:r>
            <a:r>
              <a:rPr lang="en-US" altLang="zh-CN" dirty="0"/>
              <a:t>know–how in how </a:t>
            </a:r>
            <a:r>
              <a:rPr lang="en-US" altLang="zh-CN" b="1" dirty="0"/>
              <a:t>technologies empower management and 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 rare combination of deep HR experience and technology expertise that enables smooth delivery of HR digital transformation initiatives.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Endless </a:t>
            </a:r>
            <a:r>
              <a:rPr lang="en-US" altLang="zh-CN" b="1" dirty="0"/>
              <a:t>Curiosity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Energized by new challenges and continuously motivated to learn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Extensive MNC HR experience across industries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Although this is more like Facts not competencies, worth to mention my </a:t>
            </a:r>
            <a:r>
              <a:rPr lang="en-US" altLang="zh-CN" b="1" dirty="0"/>
              <a:t>industry insight </a:t>
            </a:r>
            <a:r>
              <a:rPr lang="en-US" altLang="zh-CN" dirty="0"/>
              <a:t>on </a:t>
            </a:r>
            <a:r>
              <a:rPr lang="en-US" altLang="zh-CN" dirty="0" err="1"/>
              <a:t>Semicon</a:t>
            </a:r>
            <a:r>
              <a:rPr lang="en-US" altLang="zh-CN" dirty="0"/>
              <a:t>, Software, Pharma, FMCG….</a:t>
            </a:r>
          </a:p>
        </p:txBody>
      </p:sp>
    </p:spTree>
    <p:extLst>
      <p:ext uri="{BB962C8B-B14F-4D97-AF65-F5344CB8AC3E}">
        <p14:creationId xmlns:p14="http://schemas.microsoft.com/office/powerpoint/2010/main" val="333175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31B3D-4941-ED98-FB3E-743943CD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1E7064-F203-837C-661F-D3C83663A79F}"/>
              </a:ext>
            </a:extLst>
          </p:cNvPr>
          <p:cNvSpPr/>
          <p:nvPr/>
        </p:nvSpPr>
        <p:spPr>
          <a:xfrm>
            <a:off x="287524" y="620688"/>
            <a:ext cx="856895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noProof="0" dirty="0">
                <a:ea typeface=".萍方-简" panose="020B0400000000000000" pitchFamily="34" charset="-122"/>
              </a:rPr>
              <a:t>21 VNET – Interim HR </a:t>
            </a:r>
            <a:r>
              <a:rPr lang="en-US" altLang="zh-CN" b="1" noProof="0" dirty="0" err="1">
                <a:ea typeface=".萍方-简" panose="020B0400000000000000" pitchFamily="34" charset="-122"/>
              </a:rPr>
              <a:t>Mgmt</a:t>
            </a:r>
            <a:r>
              <a:rPr lang="en-US" altLang="zh-CN" b="1" dirty="0">
                <a:ea typeface=".萍方-简" panose="020B0400000000000000" pitchFamily="34" charset="-122"/>
              </a:rPr>
              <a:t>, assigned by PE for 2</a:t>
            </a:r>
            <a:r>
              <a:rPr lang="en-US" altLang="zh-CN" b="1" baseline="30000" dirty="0">
                <a:ea typeface=".萍方-简" panose="020B0400000000000000" pitchFamily="34" charset="-122"/>
              </a:rPr>
              <a:t>nd</a:t>
            </a:r>
            <a:r>
              <a:rPr lang="en-US" altLang="zh-CN" b="1" dirty="0">
                <a:ea typeface=".萍方-简" panose="020B0400000000000000" pitchFamily="34" charset="-122"/>
              </a:rPr>
              <a:t> IPO</a:t>
            </a:r>
            <a:endParaRPr lang="en-US" b="1" noProof="0" dirty="0">
              <a:ea typeface=".萍方-简" panose="020B0400000000000000" pitchFamily="34" charset="-122"/>
            </a:endParaRPr>
          </a:p>
          <a:p>
            <a:endParaRPr lang="en-US" altLang="zh-CN" dirty="0">
              <a:ea typeface=".萍方-简" panose="020B0400000000000000" pitchFamily="34" charset="-122"/>
            </a:endParaRPr>
          </a:p>
          <a:p>
            <a:r>
              <a:rPr lang="en-US" altLang="zh-CN" dirty="0">
                <a:ea typeface=".萍方-简" panose="020B0400000000000000" pitchFamily="34" charset="-122"/>
              </a:rPr>
              <a:t>Key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Unclear HR roles and responsibilities, incomplete policies and procedures, and lack of expert capabilities.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ea typeface=".萍方-简" panose="020B0400000000000000" pitchFamily="34" charset="-122"/>
            </a:endParaRPr>
          </a:p>
          <a:p>
            <a:r>
              <a:rPr lang="en-US" altLang="zh-CN" sz="2000" dirty="0">
                <a:ea typeface=".萍方-简" panose="020B0400000000000000" pitchFamily="34" charset="-122"/>
              </a:rPr>
              <a:t>Key Deliverables: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On-site </a:t>
            </a:r>
            <a:r>
              <a:rPr lang="en-US" altLang="zh-CN" b="1" dirty="0">
                <a:ea typeface=".萍方-简" panose="020B0400000000000000" pitchFamily="34" charset="-122"/>
              </a:rPr>
              <a:t>interim management </a:t>
            </a:r>
            <a:r>
              <a:rPr lang="en-US" altLang="zh-CN" dirty="0">
                <a:ea typeface=".萍方-简" panose="020B0400000000000000" pitchFamily="34" charset="-122"/>
              </a:rPr>
              <a:t>for over 6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Developed a state-of-the-art </a:t>
            </a:r>
            <a:r>
              <a:rPr lang="en-US" altLang="zh-CN" b="1" dirty="0">
                <a:ea typeface=".萍方-简" panose="020B0400000000000000" pitchFamily="34" charset="-122"/>
              </a:rPr>
              <a:t>HR management framework </a:t>
            </a:r>
            <a:r>
              <a:rPr lang="en-US" altLang="zh-CN" dirty="0">
                <a:ea typeface=".萍方-简" panose="020B0400000000000000" pitchFamily="34" charset="-122"/>
              </a:rPr>
              <a:t>covering all three Biz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Established and empowered a </a:t>
            </a:r>
            <a:r>
              <a:rPr lang="en-US" altLang="zh-CN" b="1" dirty="0">
                <a:ea typeface=".萍方-简" panose="020B0400000000000000" pitchFamily="34" charset="-122"/>
              </a:rPr>
              <a:t>Group-level SSC and COE</a:t>
            </a:r>
            <a:r>
              <a:rPr lang="en-US" altLang="zh-CN" dirty="0">
                <a:ea typeface=".萍方-简" panose="020B0400000000000000" pitchFamily="34" charset="-122"/>
              </a:rPr>
              <a:t>, enabling HRBPs to shift from operational tasks to strategic business partnering and better address unit-specific organizational and talent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Conducted a comprehensive review of all HR functions and delivered 1:1 </a:t>
            </a:r>
            <a:r>
              <a:rPr lang="en-US" altLang="zh-CN" b="1" dirty="0">
                <a:ea typeface=".萍方-简" panose="020B0400000000000000" pitchFamily="34" charset="-122"/>
              </a:rPr>
              <a:t>coaching</a:t>
            </a:r>
            <a:r>
              <a:rPr lang="en-US" altLang="zh-CN" dirty="0">
                <a:ea typeface=".萍方-简" panose="020B0400000000000000" pitchFamily="34" charset="-122"/>
              </a:rPr>
              <a:t> to empower key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Created a unified </a:t>
            </a:r>
            <a:r>
              <a:rPr lang="en-US" altLang="zh-CN" b="1" dirty="0">
                <a:ea typeface=".萍方-简" panose="020B0400000000000000" pitchFamily="34" charset="-122"/>
                <a:hlinkClick r:id="rId2" action="ppaction://hlinksldjump"/>
              </a:rPr>
              <a:t>Competency Model</a:t>
            </a:r>
            <a:r>
              <a:rPr lang="en-US" altLang="zh-CN" b="1" dirty="0">
                <a:ea typeface=".萍方-简" panose="020B0400000000000000" pitchFamily="34" charset="-122"/>
              </a:rPr>
              <a:t> </a:t>
            </a:r>
            <a:r>
              <a:rPr lang="en-US" altLang="zh-CN" dirty="0">
                <a:ea typeface=".萍方-简" panose="020B0400000000000000" pitchFamily="34" charset="-122"/>
              </a:rPr>
              <a:t>covering core functions across the Group, subsequently supporting </a:t>
            </a:r>
            <a:r>
              <a:rPr lang="en-US" altLang="zh-CN" b="1" dirty="0">
                <a:ea typeface=".萍方-简" panose="020B0400000000000000" pitchFamily="34" charset="-122"/>
              </a:rPr>
              <a:t>talent pipelining </a:t>
            </a:r>
            <a:r>
              <a:rPr lang="en-US" altLang="zh-CN" dirty="0">
                <a:ea typeface=".萍方-简" panose="020B0400000000000000" pitchFamily="34" charset="-122"/>
              </a:rPr>
              <a:t>in new BU.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Conducted </a:t>
            </a:r>
            <a:r>
              <a:rPr lang="en-US" altLang="zh-CN" b="1" dirty="0">
                <a:ea typeface=".萍方-简" panose="020B0400000000000000" pitchFamily="34" charset="-122"/>
              </a:rPr>
              <a:t>a </a:t>
            </a:r>
            <a:r>
              <a:rPr lang="en-US" altLang="zh-CN" b="1" dirty="0">
                <a:ea typeface=".萍方-简" panose="020B0400000000000000" pitchFamily="34" charset="-122"/>
                <a:hlinkClick r:id="rId3" action="ppaction://hlinksldjump"/>
              </a:rPr>
              <a:t>Talent Assessment Program </a:t>
            </a:r>
            <a:r>
              <a:rPr lang="en-US" altLang="zh-CN" dirty="0">
                <a:ea typeface=".萍方-简" panose="020B0400000000000000" pitchFamily="34" charset="-122"/>
              </a:rPr>
              <a:t>for all key talents.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Led the deployment of a </a:t>
            </a:r>
            <a:r>
              <a:rPr lang="en-US" altLang="zh-CN" b="1" dirty="0">
                <a:ea typeface=".萍方-简" panose="020B0400000000000000" pitchFamily="34" charset="-122"/>
              </a:rPr>
              <a:t>Learning Platform </a:t>
            </a:r>
            <a:r>
              <a:rPr lang="en-US" altLang="zh-CN" dirty="0">
                <a:ea typeface=".萍方-简" panose="020B0400000000000000" pitchFamily="34" charset="-122"/>
              </a:rPr>
              <a:t>featuring progressive learning paths tailored to each role’s competency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Improved </a:t>
            </a:r>
            <a:r>
              <a:rPr lang="en-US" altLang="zh-CN" b="1" dirty="0">
                <a:ea typeface=".萍方-简" panose="020B0400000000000000" pitchFamily="34" charset="-122"/>
              </a:rPr>
              <a:t>recruitment efficiency </a:t>
            </a:r>
            <a:r>
              <a:rPr lang="en-US" altLang="zh-CN" dirty="0">
                <a:ea typeface=".萍方-简" panose="020B0400000000000000" pitchFamily="34" charset="-122"/>
              </a:rPr>
              <a:t>by optimizing collaboration with external platforms through digitized job profiles.</a:t>
            </a:r>
            <a:endParaRPr lang="en-US" altLang="zh-CN" sz="1600" dirty="0">
              <a:ea typeface=".萍方-简" panose="020B0400000000000000" pitchFamily="3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FAD1CB-B3CF-AF95-2597-C4A1A9DE103A}"/>
              </a:ext>
            </a:extLst>
          </p:cNvPr>
          <p:cNvSpPr txBox="1"/>
          <p:nvPr/>
        </p:nvSpPr>
        <p:spPr>
          <a:xfrm>
            <a:off x="3275856" y="116632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47445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612844"/>
            <a:ext cx="813690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.萍方-简" panose="020B0400000000000000" pitchFamily="34" charset="-122"/>
              </a:rPr>
              <a:t>Vale International – SSC Enablement + Digital Transformation, BD by self</a:t>
            </a:r>
          </a:p>
          <a:p>
            <a:endParaRPr lang="en-US" altLang="zh-CN" b="1" dirty="0">
              <a:ea typeface=".萍方-简" panose="020B0400000000000000" pitchFamily="34" charset="-122"/>
            </a:endParaRPr>
          </a:p>
          <a:p>
            <a:r>
              <a:rPr lang="en-US" altLang="zh-CN" dirty="0">
                <a:ea typeface=".萍方-简" panose="020B0400000000000000" pitchFamily="34" charset="-122"/>
              </a:rPr>
              <a:t>Key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HR operations remain country-specific despite clear harmonization benefits, which SSC mindset/digital tools—including but not limited to SuccessFactors—are expected to address.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>
              <a:ea typeface=".萍方-简" panose="020B0400000000000000" pitchFamily="34" charset="-122"/>
            </a:endParaRPr>
          </a:p>
          <a:p>
            <a:r>
              <a:rPr lang="en-US" altLang="zh-CN" dirty="0">
                <a:ea typeface=".萍方-简" panose="020B0400000000000000" pitchFamily="34" charset="-122"/>
              </a:rPr>
              <a:t>Key Deliverables:</a:t>
            </a:r>
            <a:endParaRPr lang="en-US" altLang="zh-CN" b="1" dirty="0"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Led HR transformation project (extended to two years) for APAC + EMEA regions by using SAP SuccessFactors deployment as a handle of enhancing </a:t>
            </a:r>
            <a:r>
              <a:rPr lang="en-US" altLang="zh-CN" b="1" dirty="0">
                <a:ea typeface=".萍方-简" panose="020B0400000000000000" pitchFamily="34" charset="-122"/>
              </a:rPr>
              <a:t>HR management framework</a:t>
            </a:r>
            <a:r>
              <a:rPr lang="en-US" altLang="zh-CN" dirty="0">
                <a:ea typeface=".萍方-简" panose="020B0400000000000000" pitchFamily="34" charset="-12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Developed </a:t>
            </a:r>
            <a:r>
              <a:rPr lang="en-US" altLang="zh-CN" b="1" dirty="0">
                <a:ea typeface=".萍方-简" panose="020B0400000000000000" pitchFamily="34" charset="-122"/>
              </a:rPr>
              <a:t>interfaces with Payroll and Attendance systems (ADP</a:t>
            </a:r>
            <a:r>
              <a:rPr lang="en-US" altLang="zh-CN" dirty="0">
                <a:ea typeface=".萍方-简" panose="020B0400000000000000" pitchFamily="34" charset="-122"/>
              </a:rPr>
              <a:t>), to let SSC to quickly find their values under new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Coordinated </a:t>
            </a:r>
            <a:r>
              <a:rPr lang="en-US" altLang="zh-CN" b="1" dirty="0">
                <a:ea typeface=".萍方-简" panose="020B0400000000000000" pitchFamily="34" charset="-122"/>
              </a:rPr>
              <a:t>integration testing </a:t>
            </a:r>
            <a:r>
              <a:rPr lang="en-US" altLang="zh-CN" dirty="0">
                <a:ea typeface=".萍方-简" panose="020B0400000000000000" pitchFamily="34" charset="-122"/>
              </a:rPr>
              <a:t>by deeply involving ALL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Directed HR Shared Service Center (SSC) in APAC/EMEA to drive data and </a:t>
            </a:r>
            <a:r>
              <a:rPr lang="en-US" altLang="zh-CN" b="1" dirty="0">
                <a:ea typeface=".萍方-简" panose="020B0400000000000000" pitchFamily="34" charset="-122"/>
              </a:rPr>
              <a:t>process improvements </a:t>
            </a:r>
            <a:r>
              <a:rPr lang="en-US" altLang="zh-CN" dirty="0">
                <a:ea typeface=".萍方-简" panose="020B0400000000000000" pitchFamily="34" charset="-122"/>
              </a:rPr>
              <a:t>via new tech, e.g. MS 365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Supported Total Rewards team in establishing more reliable </a:t>
            </a:r>
            <a:r>
              <a:rPr lang="en-US" altLang="zh-CN" b="1" dirty="0">
                <a:ea typeface=".萍方-简" panose="020B0400000000000000" pitchFamily="34" charset="-122"/>
              </a:rPr>
              <a:t>compensation/ benefits framework </a:t>
            </a:r>
            <a:r>
              <a:rPr lang="en-US" altLang="zh-CN" dirty="0">
                <a:ea typeface=".萍方-简" panose="020B0400000000000000" pitchFamily="34" charset="-122"/>
              </a:rPr>
              <a:t>across the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Assisted in refining the </a:t>
            </a:r>
            <a:r>
              <a:rPr lang="en-US" altLang="zh-CN" b="1" dirty="0">
                <a:ea typeface=".萍方-简" panose="020B0400000000000000" pitchFamily="34" charset="-122"/>
              </a:rPr>
              <a:t>Y_E bonus process </a:t>
            </a:r>
            <a:r>
              <a:rPr lang="en-US" altLang="zh-CN" dirty="0">
                <a:ea typeface=".萍方-简" panose="020B0400000000000000" pitchFamily="34" charset="-122"/>
              </a:rPr>
              <a:t>and set the rules for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ea typeface=".萍方-简" panose="020B0400000000000000" pitchFamily="34" charset="-122"/>
              </a:rPr>
              <a:t>Coach</a:t>
            </a:r>
            <a:r>
              <a:rPr lang="en-US" altLang="zh-CN" dirty="0">
                <a:ea typeface=".萍方-简" panose="020B0400000000000000" pitchFamily="34" charset="-122"/>
              </a:rPr>
              <a:t>ed HR colleagues in the SSC and Total Rewards teams.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5EA143AB-80BF-8C08-0ED6-E7AAE8A41A89}"/>
              </a:ext>
            </a:extLst>
          </p:cNvPr>
          <p:cNvSpPr txBox="1"/>
          <p:nvPr/>
        </p:nvSpPr>
        <p:spPr>
          <a:xfrm>
            <a:off x="3203848" y="5009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98288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B05B5-C125-FCBA-3D9C-0A6D12F0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24DD8AE-CBE7-D11E-55AE-66400759EF29}"/>
              </a:ext>
            </a:extLst>
          </p:cNvPr>
          <p:cNvSpPr/>
          <p:nvPr/>
        </p:nvSpPr>
        <p:spPr>
          <a:xfrm>
            <a:off x="287524" y="446811"/>
            <a:ext cx="856895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ea typeface=".萍方-简" panose="020B0400000000000000" pitchFamily="34" charset="-122"/>
              </a:rPr>
              <a:t>西凤 </a:t>
            </a:r>
            <a:r>
              <a:rPr lang="en-US" altLang="zh-CN" b="1" dirty="0">
                <a:ea typeface=".萍方-简" panose="020B0400000000000000" pitchFamily="34" charset="-122"/>
              </a:rPr>
              <a:t>– HR Organization Enablement, BD by 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ea typeface=".萍方-简" panose="020B0400000000000000" pitchFamily="34" charset="-122"/>
            </a:endParaRPr>
          </a:p>
          <a:p>
            <a:r>
              <a:rPr lang="en-US" altLang="zh-CN" dirty="0">
                <a:ea typeface=".萍方-简" panose="020B0400000000000000" pitchFamily="34" charset="-122"/>
              </a:rPr>
              <a:t>Key 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Business team lacks autonomy despite reliable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HR lacks HR expertise despite strong loyalty and passion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Organization lacks key revenue-driving units e.g. Marketing, Trade Marketing, and E-Trade to unlock further growth.</a:t>
            </a:r>
          </a:p>
          <a:p>
            <a:endParaRPr lang="en-US" altLang="zh-CN" sz="2000" dirty="0">
              <a:ea typeface=".萍方-简" panose="020B0400000000000000" pitchFamily="34" charset="-122"/>
            </a:endParaRPr>
          </a:p>
          <a:p>
            <a:r>
              <a:rPr lang="en-US" altLang="zh-CN" dirty="0">
                <a:ea typeface=".萍方-简" panose="020B0400000000000000" pitchFamily="34" charset="-122"/>
              </a:rPr>
              <a:t>Key Deliverables: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Consulting Services with at least 2 years of long-tail tracking and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Developed a comprehensive </a:t>
            </a:r>
            <a:r>
              <a:rPr lang="en-US" altLang="zh-CN" b="1" dirty="0">
                <a:ea typeface=".萍方-简" panose="020B0400000000000000" pitchFamily="34" charset="-122"/>
              </a:rPr>
              <a:t>HR framework</a:t>
            </a:r>
            <a:r>
              <a:rPr lang="en-US" altLang="zh-CN" dirty="0">
                <a:ea typeface=".萍方-简" panose="020B0400000000000000" pitchFamily="34" charset="-122"/>
              </a:rPr>
              <a:t>, including organizational design and empowerment strategies, e.g. Workshops.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Designed a </a:t>
            </a:r>
            <a:r>
              <a:rPr lang="en-US" altLang="zh-CN" b="1" dirty="0">
                <a:ea typeface=".萍方-简" panose="020B0400000000000000" pitchFamily="34" charset="-122"/>
              </a:rPr>
              <a:t>grading system </a:t>
            </a:r>
            <a:r>
              <a:rPr lang="en-US" altLang="zh-CN" dirty="0">
                <a:ea typeface=".萍方-简" panose="020B0400000000000000" pitchFamily="34" charset="-122"/>
              </a:rPr>
              <a:t>to ensure competitive/fair compensation.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Implemented a </a:t>
            </a:r>
            <a:r>
              <a:rPr lang="en-US" altLang="zh-CN" b="1" dirty="0">
                <a:ea typeface=".萍方-简" panose="020B0400000000000000" pitchFamily="34" charset="-122"/>
              </a:rPr>
              <a:t>goal-based performance management system </a:t>
            </a:r>
            <a:r>
              <a:rPr lang="en-US" altLang="zh-CN" dirty="0">
                <a:ea typeface=".萍方-简" panose="020B0400000000000000" pitchFamily="34" charset="-122"/>
              </a:rPr>
              <a:t>for measurable outcomes of all key contributors.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Established a </a:t>
            </a:r>
            <a:r>
              <a:rPr lang="en-US" altLang="zh-CN" b="1" dirty="0">
                <a:ea typeface=".萍方-简" panose="020B0400000000000000" pitchFamily="34" charset="-122"/>
              </a:rPr>
              <a:t>performance bonus system</a:t>
            </a:r>
            <a:r>
              <a:rPr lang="en-US" altLang="zh-CN" dirty="0">
                <a:ea typeface=".萍方-简" panose="020B0400000000000000" pitchFamily="34" charset="-122"/>
              </a:rPr>
              <a:t> to reward achievements.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Created a </a:t>
            </a:r>
            <a:r>
              <a:rPr lang="en-US" altLang="zh-CN" b="1" dirty="0">
                <a:ea typeface=".萍方-简" panose="020B0400000000000000" pitchFamily="34" charset="-122"/>
              </a:rPr>
              <a:t>commission system </a:t>
            </a:r>
            <a:r>
              <a:rPr lang="en-US" altLang="zh-CN" dirty="0">
                <a:ea typeface=".萍方-简" panose="020B0400000000000000" pitchFamily="34" charset="-122"/>
              </a:rPr>
              <a:t>to incentivize sales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Introduced </a:t>
            </a:r>
            <a:r>
              <a:rPr lang="en-US" altLang="zh-CN" b="1" dirty="0">
                <a:ea typeface=".萍方-简" panose="020B0400000000000000" pitchFamily="34" charset="-122"/>
              </a:rPr>
              <a:t>a long-term incentive plan </a:t>
            </a:r>
            <a:r>
              <a:rPr lang="en-US" altLang="zh-CN" dirty="0">
                <a:ea typeface=".萍方-简" panose="020B0400000000000000" pitchFamily="34" charset="-122"/>
              </a:rPr>
              <a:t>to retain top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Formulated a </a:t>
            </a:r>
            <a:r>
              <a:rPr lang="en-US" altLang="zh-CN" b="1" dirty="0">
                <a:ea typeface=".萍方-简" panose="020B0400000000000000" pitchFamily="34" charset="-122"/>
              </a:rPr>
              <a:t>Talent Development Plan </a:t>
            </a:r>
            <a:r>
              <a:rPr lang="en-US" altLang="zh-CN" dirty="0">
                <a:ea typeface=".萍方-简" panose="020B0400000000000000" pitchFamily="34" charset="-122"/>
              </a:rPr>
              <a:t>to enhance employee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Developed a solid </a:t>
            </a:r>
            <a:r>
              <a:rPr lang="en-US" altLang="zh-CN" b="1" dirty="0">
                <a:ea typeface=".萍方-简" panose="020B0400000000000000" pitchFamily="34" charset="-122"/>
              </a:rPr>
              <a:t>Management Trainee Program </a:t>
            </a:r>
            <a:r>
              <a:rPr lang="en-US" altLang="zh-CN" dirty="0">
                <a:ea typeface=".萍方-简" panose="020B0400000000000000" pitchFamily="34" charset="-122"/>
              </a:rPr>
              <a:t>to nurture future leaders.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ea typeface=".萍方-简" panose="020B0400000000000000" pitchFamily="34" charset="-122"/>
              </a:rPr>
              <a:t>Built teams of </a:t>
            </a:r>
            <a:r>
              <a:rPr lang="en-US" altLang="zh-CN" b="1" dirty="0">
                <a:ea typeface=".萍方-简" panose="020B0400000000000000" pitchFamily="34" charset="-122"/>
              </a:rPr>
              <a:t>Marketing, Trade Marketing and E-Trade </a:t>
            </a:r>
            <a:r>
              <a:rPr lang="en-US" altLang="zh-CN" dirty="0">
                <a:ea typeface=".萍方-简" panose="020B0400000000000000" pitchFamily="34" charset="-122"/>
              </a:rPr>
              <a:t>with modern definitions.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BE80E71-52CF-407C-A0A0-6FF64F95CC3B}"/>
              </a:ext>
            </a:extLst>
          </p:cNvPr>
          <p:cNvSpPr txBox="1"/>
          <p:nvPr/>
        </p:nvSpPr>
        <p:spPr>
          <a:xfrm>
            <a:off x="3275856" y="31313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96314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D5C690-77F9-04A2-F900-C8C56C3E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492896"/>
            <a:ext cx="8229600" cy="1143000"/>
          </a:xfrm>
        </p:spPr>
        <p:txBody>
          <a:bodyPr/>
          <a:lstStyle/>
          <a:p>
            <a:r>
              <a:rPr lang="en-US" altLang="zh-CN" dirty="0"/>
              <a:t>Back-Ups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5302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870FC-BC0D-D6C1-03D8-21F301F3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1052650-0373-6632-0D37-094AE932BB4B}"/>
              </a:ext>
            </a:extLst>
          </p:cNvPr>
          <p:cNvSpPr/>
          <p:nvPr/>
        </p:nvSpPr>
        <p:spPr>
          <a:xfrm>
            <a:off x="575703" y="1124744"/>
            <a:ext cx="792088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M&amp;A project for an international logistic giant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Collaborated with GPMIP as the HR champion for the entire M&amp;A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a deep-dive productivity analysis to identify key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an organizational blueprint based on a comprehensive analysis of both parties.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Proposed an HC optimization plan integrating bottom-up analysis with top-down financial expectations.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Performed talent assessments and staff assignments to align with the organizational blueprint, including before-and-after comparisons for HC and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Prepared communication decks tailored for management, managers, and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Integrated HR strategies into the overall M&amp;A proposal for seamless execution.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F663BB3-BB24-8962-5078-E8B1019150A2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67062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3A51-844D-B5C6-12E9-CB6A6921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5555A54-0271-EEB0-CB65-F6173C865A64}"/>
              </a:ext>
            </a:extLst>
          </p:cNvPr>
          <p:cNvSpPr/>
          <p:nvPr/>
        </p:nvSpPr>
        <p:spPr>
          <a:xfrm>
            <a:off x="395536" y="305068"/>
            <a:ext cx="828092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To find a smooth solution aiming at souring adequate proper technical engineers  for ad-hoc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 talent pool are always existing in form of discrete staffing papers associated with historical projects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Need to build a system which is capable to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Track useful competency information of existing engineers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Collect information from new capture competency information in  structured way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 digital competency profile DB for all above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 algorithm to match project demand quickly and accurately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Track performance under each project and make it useful reference for future match 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7BB8443-B63C-B051-B652-0CB4517BFD35}"/>
              </a:ext>
            </a:extLst>
          </p:cNvPr>
          <p:cNvSpPr txBox="1"/>
          <p:nvPr/>
        </p:nvSpPr>
        <p:spPr>
          <a:xfrm>
            <a:off x="3203848" y="5009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37717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308287-F058-D5EC-9924-00F345DF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1" y="1556792"/>
            <a:ext cx="9144000" cy="504257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CAD24FE-DAF0-5506-A2A0-73C77E323F73}"/>
              </a:ext>
            </a:extLst>
          </p:cNvPr>
          <p:cNvSpPr/>
          <p:nvPr/>
        </p:nvSpPr>
        <p:spPr>
          <a:xfrm>
            <a:off x="467544" y="476672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 – Talent Sourcing system </a:t>
            </a:r>
            <a:r>
              <a:rPr lang="en-US" altLang="zh-CN" sz="2000" b="1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Smartisans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7990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94E1-D55D-DD3A-9B64-17E20466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0BA667-F04F-B59D-2DDA-DB32AF4E6DE8}"/>
              </a:ext>
            </a:extLst>
          </p:cNvPr>
          <p:cNvSpPr/>
          <p:nvPr/>
        </p:nvSpPr>
        <p:spPr>
          <a:xfrm>
            <a:off x="467544" y="476672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State-Owned Engineering Group</a:t>
            </a: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 – Talent Sourcing system </a:t>
            </a:r>
            <a:r>
              <a:rPr lang="en-US" altLang="zh-CN" sz="2000" b="1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Smartisans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1FC7ACB-AB07-5CC3-6AC4-D0CA2B63477A}"/>
              </a:ext>
            </a:extLst>
          </p:cNvPr>
          <p:cNvSpPr txBox="1"/>
          <p:nvPr/>
        </p:nvSpPr>
        <p:spPr>
          <a:xfrm>
            <a:off x="3275856" y="213723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686E0-690E-13B0-A663-DA1CD0313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816"/>
            <a:ext cx="9144000" cy="45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59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704189"/>
            <a:ext cx="79208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An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agricultural technology company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Constructed an overall HR framework to align with organizational goals.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and empowerment strategies to enhance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grading and salary system to ensure equitable compensation.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a performance incentive program to motivate employees.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 long-term incentive plan to retain key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Launched a Talent Development Program to foster professional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the Group's Shared Service Center to streamline HR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Drove digital transformation to modernize HR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623FDA4-7EF3-2573-16CD-2582EDDF55F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80806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29EC-07CB-811D-D7EA-D97FDEFD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96D39B1-05A7-02E2-30A5-5F07CBEB8148}"/>
              </a:ext>
            </a:extLst>
          </p:cNvPr>
          <p:cNvSpPr/>
          <p:nvPr/>
        </p:nvSpPr>
        <p:spPr>
          <a:xfrm>
            <a:off x="611560" y="980728"/>
            <a:ext cx="792088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dental chain enterprise</a:t>
            </a: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an overall HR framework to support organizational objectives.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and empowerment strategies to enhance leadership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business-specific competency assessments and a digital patient allocation system for optimized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profit-sharing plans by clinic to foster an entrepreneurial spirit among staff.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Constructed a grading/salary system and designed performance incentives and long-term incentive plans to drive motivation and retention.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4A03F950-2C83-4CDE-6A0F-2AD2616C8BFD}"/>
              </a:ext>
            </a:extLst>
          </p:cNvPr>
          <p:cNvSpPr txBox="1"/>
          <p:nvPr/>
        </p:nvSpPr>
        <p:spPr>
          <a:xfrm>
            <a:off x="3319906" y="288691"/>
            <a:ext cx="191020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1312732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5703" y="1124744"/>
            <a:ext cx="79208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Nation-Owned distribution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organizational structure for Marketing and Trade Marketing functions to align with market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Managed new department staffing and development to build capable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data mining from existing business systems to empower new functions with greater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mature performance-based compensation management framework to incentivize productivity.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Facilitated deployment of the above initiatives through digital solutions for enhanced efficiency.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623FDA4-7EF3-2573-16CD-2582EDDF55FB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450909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AF2C-41A0-F017-16AC-9A91A7A5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5797175-C752-99DA-F1D1-0318064FC142}"/>
              </a:ext>
            </a:extLst>
          </p:cNvPr>
          <p:cNvSpPr/>
          <p:nvPr/>
        </p:nvSpPr>
        <p:spPr>
          <a:xfrm>
            <a:off x="323528" y="704873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21 VNET – Interim HR </a:t>
            </a:r>
            <a:r>
              <a:rPr lang="en-US" altLang="zh-CN" sz="2000" b="1" noProof="0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Mgmt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, assigned by PE for 2</a:t>
            </a:r>
            <a:r>
              <a:rPr lang="en-US" altLang="zh-CN" sz="2000" b="1" baseline="30000" dirty="0">
                <a:latin typeface=".萍方-简" panose="020B0400000000000000" pitchFamily="34" charset="-122"/>
                <a:ea typeface=".萍方-简" panose="020B0400000000000000" pitchFamily="34" charset="-122"/>
              </a:rPr>
              <a:t>nd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 IPO</a:t>
            </a:r>
            <a:endParaRPr lang="en-US" sz="2000" b="1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Invetor (PE), to provide Interim HR Management aiming 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Build HR management framework by transforming/ enabling  current HR team, in specific to realize 3 pillars structure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top management, to establish solid talent backbone for company’s secondary listing (new BU)</a:t>
            </a:r>
          </a:p>
          <a:p>
            <a:pPr lvl="1"/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Key challenges upon Deep Dive: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team members mostly play hybrid role of business partner + function specialists, which lead to chaos and Inefficiency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HRBP could really concentrate on business strategic supporting,</a:t>
            </a:r>
            <a:r>
              <a:rPr lang="zh-CN" alt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especially identify talent shortage for upcoming new business unit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authoritative COE to govern necessary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There is no dedicated SSC to ensure accurate executions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863C9E-8DAE-5A09-2B41-3B42FC250403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23206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B112-6282-988E-3587-92DB2179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62446FD-974B-3A9B-74EE-05DF2B61322D}"/>
              </a:ext>
            </a:extLst>
          </p:cNvPr>
          <p:cNvSpPr/>
          <p:nvPr/>
        </p:nvSpPr>
        <p:spPr>
          <a:xfrm>
            <a:off x="431540" y="836712"/>
            <a:ext cx="828092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21 VNET – Interim HR </a:t>
            </a:r>
            <a:r>
              <a:rPr lang="en-US" altLang="zh-CN" sz="2000" b="1" dirty="0" err="1">
                <a:latin typeface=".萍方-简" panose="020B0400000000000000" pitchFamily="34" charset="-122"/>
                <a:ea typeface=".萍方-简" panose="020B0400000000000000" pitchFamily="34" charset="-122"/>
              </a:rPr>
              <a:t>Mgmt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Delivered</a:t>
            </a:r>
            <a:endParaRPr lang="en-US" sz="2000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On-site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interim management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over 6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state-of-the-art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HR management framework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at the group level, encompassing all three distinct business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Group SSC and COE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shift HRBPs' focus from operational tasks to strategic business partnering, to contribute against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organizational and talent needs specific to each business </a:t>
            </a:r>
            <a:r>
              <a:rPr lang="en-US" dirty="0">
                <a:latin typeface=".萍方-简" panose="020B0400000000000000" pitchFamily="34" charset="-122"/>
                <a:ea typeface=".萍方-简" panose="020B0400000000000000" pitchFamily="34" charset="-122"/>
              </a:rPr>
              <a:t>U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Reviewed all HR functions and provided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1:1 coaching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empower relevant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a unified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Model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covering </a:t>
            </a:r>
            <a:r>
              <a:rPr lang="en-US" dirty="0">
                <a:latin typeface=".萍方-简" panose="020B0400000000000000" pitchFamily="34" charset="-122"/>
                <a:ea typeface=".萍方-简" panose="020B0400000000000000" pitchFamily="34" charset="-122"/>
              </a:rPr>
              <a:t>key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 functions across the Group which can be used for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talent pipelining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in new BU.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Conducted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a Talent Assessment Program 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all key talents.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Led the construction of a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Learning Platform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, incorporating gradient learning plans tailored to the competency model of each position.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Enhanced recruitment efficiency by optimizing collaboration with external platforms using </a:t>
            </a:r>
            <a:r>
              <a:rPr lang="en-US" b="1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digitalized job profiles</a:t>
            </a:r>
            <a:r>
              <a:rPr lang="en-US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.</a:t>
            </a:r>
            <a:endParaRPr lang="en-US" sz="1600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10B639-AC31-6A10-559A-0A79798EE9F1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1297535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F7B2-7A58-DEE1-8DE9-36D46B91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4B3D2CF-1CEB-83ED-0F1C-1CB51D34F1FF}"/>
              </a:ext>
            </a:extLst>
          </p:cNvPr>
          <p:cNvSpPr/>
          <p:nvPr/>
        </p:nvSpPr>
        <p:spPr>
          <a:xfrm>
            <a:off x="395536" y="836712"/>
            <a:ext cx="828092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21VNET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(</a:t>
            </a: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continued – typical products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)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Model Sample – Career Stream for IDC Engineering</a:t>
            </a:r>
            <a:endParaRPr lang="en-US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1DB34A-DA26-9B52-DE00-9DD42F7660F0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7486BC-3E55-0FA6-603D-9B9B819E4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66" y="2043552"/>
            <a:ext cx="8784468" cy="452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964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66EB-5DCA-C23F-7E5E-32E435AB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765BB0-9229-0C6A-2C66-ED8B0E18BB21}"/>
              </a:ext>
            </a:extLst>
          </p:cNvPr>
          <p:cNvSpPr/>
          <p:nvPr/>
        </p:nvSpPr>
        <p:spPr>
          <a:xfrm>
            <a:off x="395536" y="836712"/>
            <a:ext cx="8280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21 VNET 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(</a:t>
            </a:r>
            <a:r>
              <a:rPr 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continued – typical products</a:t>
            </a:r>
            <a:r>
              <a:rPr lang="en-US" sz="2000" noProof="0" dirty="0">
                <a:latin typeface=".萍方-简" panose="020B0400000000000000" pitchFamily="34" charset="-122"/>
                <a:ea typeface=".萍方-简" panose="020B0400000000000000" pitchFamily="34" charset="-122"/>
              </a:rPr>
              <a:t>)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Competency Based Talent Tracking System – SaaS</a:t>
            </a:r>
            <a:endParaRPr lang="en-US" noProof="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F5BA51-2412-1EDF-E246-7613716AAFCD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021244-7B9F-C6C9-D67F-5E78F2FB5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" y="3284984"/>
            <a:ext cx="8712460" cy="34897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0B9858-348A-E0D0-789B-F2D7390CA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28" y="704189"/>
            <a:ext cx="993281" cy="7140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E58D254-0409-11A3-B885-7465926D8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6529" y="1544598"/>
            <a:ext cx="5206463" cy="26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42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6739A-7DAB-572F-A7C5-A96CCA7E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CB6F4F9-23A6-37F7-7B23-AB9D37A40201}"/>
              </a:ext>
            </a:extLst>
          </p:cNvPr>
          <p:cNvSpPr/>
          <p:nvPr/>
        </p:nvSpPr>
        <p:spPr>
          <a:xfrm>
            <a:off x="611560" y="212758"/>
            <a:ext cx="8136904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Vale International – SSC Enablement + Digital Transformation 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Assigned by Global HR to provide HR consulting service across APAC + EMEA, with focus 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Streamline HR organization by reviewing and coaching current HR team in COE+SSC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Work closely with global project team, to ensure SAP SF’s on time deployment in 2 regions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internal knowledge are managed almost offline by certain people, with confused understanding among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SSC are very country focused (not really region SHARED) although we see huge value harmonizing most of practices across multiple countries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Lack of vehicles to help SSC to work in modern way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Low level of SSC engagements on SF deployment </a:t>
            </a:r>
            <a:endParaRPr lang="en-US" altLang="zh-CN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99B877A-4337-AF2D-E7EC-607508520E0F}"/>
              </a:ext>
            </a:extLst>
          </p:cNvPr>
          <p:cNvSpPr txBox="1"/>
          <p:nvPr/>
        </p:nvSpPr>
        <p:spPr>
          <a:xfrm>
            <a:off x="3203848" y="5009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810510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7CC19-ADA2-F912-6B9B-185AD1FC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3AF51E8-0014-2EBF-5014-DCA9F03B3EDB}"/>
              </a:ext>
            </a:extLst>
          </p:cNvPr>
          <p:cNvSpPr/>
          <p:nvPr/>
        </p:nvSpPr>
        <p:spPr>
          <a:xfrm>
            <a:off x="467544" y="476672"/>
            <a:ext cx="849694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Vale International (continued)</a:t>
            </a: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</a:t>
            </a:r>
          </a:p>
          <a:p>
            <a:endParaRPr lang="en-US" altLang="zh-CN" sz="24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Led HR transformation project (extended to two years) for APAC + EMEA regions by using SAP SF deployment as a handle of enhancing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HR management framework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interfaces with Payroll and Attendance systems (ADP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), to let SSC to quickly find their values under new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Coordinated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integration testing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by deeply involving ALL SSC (plus HRBP+COE) </a:t>
            </a:r>
            <a:r>
              <a:rPr lang="zh-CN" altLang="en-US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 </a:t>
            </a: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Directed HR Shared Service Center (SSC) in APAC/EMEA to drive data and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process improvements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via new tech, e.g. MS 365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Supported Total Rewards team in establishing more reliable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compensation/ benefits framework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across the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Assisted in refining the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Year-End bonus process 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and set the rules for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Coach</a:t>
            </a: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ed HR colleagues in the SSC and Total Rewards teams.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0D4B99C-0EE0-F929-56FB-F862AE16D601}"/>
              </a:ext>
            </a:extLst>
          </p:cNvPr>
          <p:cNvSpPr txBox="1"/>
          <p:nvPr/>
        </p:nvSpPr>
        <p:spPr>
          <a:xfrm>
            <a:off x="3275856" y="213723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3556604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EE71-D5C9-27B4-A6D2-82BCB020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E863F06-0A91-5F04-16B1-7EE67F7B0A2A}"/>
              </a:ext>
            </a:extLst>
          </p:cNvPr>
          <p:cNvSpPr/>
          <p:nvPr/>
        </p:nvSpPr>
        <p:spPr>
          <a:xfrm>
            <a:off x="323528" y="629221"/>
            <a:ext cx="842493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西凤 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– HR Organization Enablement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Customer Initial 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Make HR a key driver to realize the goal of 2X revenue in 3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 HR team to support sustainable development of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From organizational perspective review business structure to fir modern business environment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Deep Dive upon baseline investigation: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business team is very reliable on execution of superior’s command, while lack of self-motivation upon micro goals of 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Current HR team are led by business leader who is no doubt with loyalty and passion but lack of expertise as HR.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Most revenue are realized via existing traditional channels, with little space to surge further unless meaningful (qualified) teams of Marketing, Trade Marketing and E-Trade are built.  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128031E9-47D1-544C-8F94-ACD08AED24EE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2671071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0940-89F7-4FDC-EDC6-E8AEB9B0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EBA9DD-60AD-6506-3775-06CCE3D1731C}"/>
              </a:ext>
            </a:extLst>
          </p:cNvPr>
          <p:cNvSpPr/>
          <p:nvPr/>
        </p:nvSpPr>
        <p:spPr>
          <a:xfrm>
            <a:off x="323528" y="629221"/>
            <a:ext cx="849694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西凤</a:t>
            </a:r>
            <a:r>
              <a:rPr lang="en-US" altLang="zh-CN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 (Continued</a:t>
            </a:r>
            <a:r>
              <a:rPr lang="zh-CN" altLang="en-US" sz="2000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）</a:t>
            </a:r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endParaRPr lang="en-US" altLang="zh-CN" sz="2000" b="1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r>
              <a:rPr lang="en-US" altLang="zh-CN" sz="2000" dirty="0">
                <a:latin typeface=".萍方-简" panose="020B0400000000000000" pitchFamily="34" charset="-122"/>
                <a:ea typeface=".萍方-简" panose="020B0400000000000000" pitchFamily="34" charset="-122"/>
              </a:rPr>
              <a:t>What we Delivered</a:t>
            </a:r>
          </a:p>
          <a:p>
            <a:endParaRPr lang="en-US" altLang="zh-CN" sz="2000" dirty="0">
              <a:latin typeface=".萍方-简" panose="020B0400000000000000" pitchFamily="34" charset="-122"/>
              <a:ea typeface=".萍方-简" panose="020B0400000000000000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Human Resources Consulting Services with at least 2 years of long-tail tracking and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comprehensive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HR framework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, including organizational design and empowerment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Designed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grading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ensure competitive/fair compensation.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Implemented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goal-based performance management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for measurable outcomes of all key contributors.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Established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performance bonus system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 to reward achievements.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Created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commission system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incentivize sales and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Introduced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a long-term incentive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retain top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Formulated a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Talent Development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enhance employee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Developed a solid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Management Trainee Development Plan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to nurture future leaders.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Built teams of </a:t>
            </a:r>
            <a:r>
              <a:rPr lang="en-US" altLang="zh-CN" b="1" dirty="0">
                <a:latin typeface=".萍方-简" panose="020B0400000000000000" pitchFamily="34" charset="-122"/>
                <a:ea typeface=".萍方-简" panose="020B0400000000000000" pitchFamily="34" charset="-122"/>
              </a:rPr>
              <a:t>Marketing, Trade Marketing and E-Trade </a:t>
            </a:r>
            <a:r>
              <a:rPr lang="en-US" altLang="zh-CN" dirty="0">
                <a:latin typeface=".萍方-简" panose="020B0400000000000000" pitchFamily="34" charset="-122"/>
                <a:ea typeface=".萍方-简" panose="020B0400000000000000" pitchFamily="34" charset="-122"/>
              </a:rPr>
              <a:t>with modern definitions.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AFF294D-ED97-38CA-9E40-833C42FAE658}"/>
              </a:ext>
            </a:extLst>
          </p:cNvPr>
          <p:cNvSpPr txBox="1"/>
          <p:nvPr/>
        </p:nvSpPr>
        <p:spPr>
          <a:xfrm>
            <a:off x="3275856" y="288691"/>
            <a:ext cx="19983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Projects Brief</a:t>
            </a:r>
          </a:p>
        </p:txBody>
      </p:sp>
    </p:spTree>
    <p:extLst>
      <p:ext uri="{BB962C8B-B14F-4D97-AF65-F5344CB8AC3E}">
        <p14:creationId xmlns:p14="http://schemas.microsoft.com/office/powerpoint/2010/main" val="587007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70382" y="288691"/>
            <a:ext cx="480926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1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Key Areas of </a:t>
            </a:r>
            <a:r>
              <a:rPr lang="en-US" altLang="zh-CN" sz="2100" b="1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Professional Services</a:t>
            </a:r>
            <a:endParaRPr lang="en-US" sz="2100" b="1" noProof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47E449-94C6-61B2-2A3E-FFCC9066A822}"/>
              </a:ext>
            </a:extLst>
          </p:cNvPr>
          <p:cNvSpPr txBox="1"/>
          <p:nvPr/>
        </p:nvSpPr>
        <p:spPr>
          <a:xfrm>
            <a:off x="319922" y="980728"/>
            <a:ext cx="85041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HR Framework &amp; Organizational Design</a:t>
            </a:r>
            <a:r>
              <a:rPr lang="en-US" altLang="zh-CN" sz="1600" dirty="0"/>
              <a:t>: Build comprehensive HR frameworks, organizational structures, and empowerment strategies to align with business goals and market demands.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Compensation &amp; Incentive Systems: Design grading/salary structures, performance-based incentives, profit-sharing plans, commissions, and long-term incentives to motivate and retain talent.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Performance Management</a:t>
            </a:r>
            <a:r>
              <a:rPr lang="en-US" altLang="zh-CN" sz="1600" dirty="0"/>
              <a:t>: Implement goal-based systems, competency assessments, and productivity analyses for optimized performance tracking and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Talent Development &amp; Assessment</a:t>
            </a:r>
            <a:r>
              <a:rPr lang="en-US" altLang="zh-CN" sz="1600" dirty="0"/>
              <a:t>: Create unified competency models, talent development programs, assessment initiatives, and learning platforms with gradient plans for key talents and management trainees.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Digital HR Transformation</a:t>
            </a:r>
            <a:r>
              <a:rPr lang="en-US" altLang="zh-CN" sz="1600" dirty="0"/>
              <a:t>: Champion HR digitalization projects, including SAP SuccessFactors implementation, payroll/attendance interfaces (e.g., ADP), and data mining for enhanced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Shared Service Centers (SSC): Establish group-level SSCs to shift HR focus from operations to strategic partnering, with process and data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M&amp;A HR Support</a:t>
            </a:r>
            <a:r>
              <a:rPr lang="en-US" altLang="zh-CN" sz="1600" dirty="0"/>
              <a:t>: Lead HR aspects of mergers, including productivity deep-dives, organizational blueprints, headcount optimization, talent assessments, staff assignments, and communication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Recruitment &amp; Staffing Optimization</a:t>
            </a:r>
            <a:r>
              <a:rPr lang="en-US" altLang="zh-CN" sz="1600" dirty="0"/>
              <a:t>: Enhance staffing for new departments, digitalize job profiles, and integrate with external platforms for precise talent matching and allocation (e.g., digital patient systems in healthcare).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12850972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2490</Words>
  <Application>Microsoft Office PowerPoint</Application>
  <PresentationFormat>全屏显示(4:3)</PresentationFormat>
  <Paragraphs>252</Paragraphs>
  <Slides>22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.萍方-简</vt:lpstr>
      <vt:lpstr>Microsoft YaHei UI</vt:lpstr>
      <vt:lpstr>Arial</vt:lpstr>
      <vt:lpstr>Calibri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Back-Ups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Camilla Zhao</dc:creator>
  <cp:lastModifiedBy>Xin Gao</cp:lastModifiedBy>
  <cp:revision>50</cp:revision>
  <cp:lastPrinted>2021-03-13T09:25:41Z</cp:lastPrinted>
  <dcterms:created xsi:type="dcterms:W3CDTF">2018-07-31T01:56:19Z</dcterms:created>
  <dcterms:modified xsi:type="dcterms:W3CDTF">2026-02-03T09:28:59Z</dcterms:modified>
</cp:coreProperties>
</file>