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715" r:id="rId2"/>
    <p:sldId id="723" r:id="rId3"/>
    <p:sldId id="724" r:id="rId4"/>
    <p:sldId id="726" r:id="rId5"/>
    <p:sldId id="728" r:id="rId6"/>
    <p:sldId id="730" r:id="rId7"/>
    <p:sldId id="727" r:id="rId8"/>
    <p:sldId id="731" r:id="rId9"/>
    <p:sldId id="716" r:id="rId10"/>
    <p:sldId id="725" r:id="rId11"/>
    <p:sldId id="720" r:id="rId12"/>
    <p:sldId id="729" r:id="rId13"/>
    <p:sldId id="717" r:id="rId14"/>
    <p:sldId id="721" r:id="rId15"/>
    <p:sldId id="719" r:id="rId16"/>
    <p:sldId id="722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B072E-23E4-419B-B870-E681542691AF}" v="29" dt="2025-11-29T04:59:58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62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Gao" userId="9cb8bec77e6d6dad" providerId="LiveId" clId="{271B27B5-B74A-464C-A12C-345E0DD17E8B}"/>
    <pc:docChg chg="undo redo custSel addSld delSld modSld sldOrd">
      <pc:chgData name="Xin Gao" userId="9cb8bec77e6d6dad" providerId="LiveId" clId="{271B27B5-B74A-464C-A12C-345E0DD17E8B}" dt="2026-01-26T09:46:22.305" v="6678" actId="20577"/>
      <pc:docMkLst>
        <pc:docMk/>
      </pc:docMkLst>
      <pc:sldChg chg="modSp mod">
        <pc:chgData name="Xin Gao" userId="9cb8bec77e6d6dad" providerId="LiveId" clId="{271B27B5-B74A-464C-A12C-345E0DD17E8B}" dt="2026-01-26T09:46:22.305" v="6678" actId="20577"/>
        <pc:sldMkLst>
          <pc:docMk/>
          <pc:sldMk cId="2912454020" sldId="724"/>
        </pc:sldMkLst>
        <pc:spChg chg="mod">
          <ac:chgData name="Xin Gao" userId="9cb8bec77e6d6dad" providerId="LiveId" clId="{271B27B5-B74A-464C-A12C-345E0DD17E8B}" dt="2026-01-26T09:46:22.305" v="6678" actId="20577"/>
          <ac:spMkLst>
            <pc:docMk/>
            <pc:sldMk cId="2912454020" sldId="724"/>
            <ac:spMk id="4" creationId="{8712A27C-813D-5232-C54B-F3AC49438C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70FA5-F078-4F7F-A763-8CDF97E1FD4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020C8-477E-406D-A27A-E3426002F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193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Assigned by Global HR to provide HR consulting service across APAC + EMEA, with focus 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Streamline HR organization by reviewing and coaching current HR team in COE+SSC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Work closely with global project team, to ensure SAP SF’s on time deployment in region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internal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20C8-477E-406D-A27A-E3426002F9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253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1A642-1E1C-42DA-97FB-7BBC8B67D5B3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58587-D818-4691-A342-03B38A05D29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33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B3240-C3BD-44F0-B5B6-B86F737C8C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3AADC-BF9E-4DAB-9DA5-1238CA50D7B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42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C447E-D833-4CBF-812F-F00DE0B3732A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41315-3572-47F3-9610-A7F1D88B276C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3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0CA00-2195-4DD0-B8B4-AA39F69289D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42470-FF5A-41C1-A288-0C3CD2136AC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52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7A8AE-0080-4BEC-9D61-165FCA1863C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84637-9466-477B-84B3-9666C1F1B34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71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7690E-057B-467A-826A-A224F9D95B7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892C06-F3A8-4D64-A539-B49EED3C17D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51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4A54-10AA-4BAB-80A5-0417DA7E8FF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3917E-4BAE-49EA-BEC1-1DFEFD026305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06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E3872-F331-4129-A228-B88EA3883B2A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18850-E8CF-4F4E-B291-FA21F8910D8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12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3BEA0-2672-480B-BC3C-B4BD4A8F504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DA66F-40F7-4D6A-B293-D9A68593E1E5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643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54E-1D1F-42C2-8BFC-8A07EC6A852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30A87-2EBA-4755-95C6-D6809BF9E99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69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D4C28-64FF-4980-ADAE-FA66C03BFE3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BF66C-024B-40DB-9ED4-9A0CE45AE897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72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DE72F48-D7C4-4AFF-A276-0B8D7729640C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62D6031-BF19-42FD-904D-1233696642C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22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63810" y="288691"/>
            <a:ext cx="362240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Our Professional Services</a:t>
            </a:r>
            <a:endParaRPr lang="en-US" sz="2100" b="1" noProof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47E449-94C6-61B2-2A3E-FFCC9066A822}"/>
              </a:ext>
            </a:extLst>
          </p:cNvPr>
          <p:cNvSpPr txBox="1"/>
          <p:nvPr/>
        </p:nvSpPr>
        <p:spPr>
          <a:xfrm>
            <a:off x="319922" y="980728"/>
            <a:ext cx="85041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HR Framework &amp; Organizational Design</a:t>
            </a:r>
            <a:r>
              <a:rPr lang="en-US" altLang="zh-CN" sz="1600" dirty="0"/>
              <a:t>: Build comprehensive HR frameworks, organizational structures, and empowerment strategies to align with business goals and market demands.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Compensation &amp; Incentive Systems: Design grading/salary structures, performance-based incentives, profit-sharing plans, commissions, and long-term incentives to motivate and retain talent.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Performance Management</a:t>
            </a:r>
            <a:r>
              <a:rPr lang="en-US" altLang="zh-CN" sz="1600" dirty="0"/>
              <a:t>: Implement goal-based systems, competency assessments, and productivity analyses for optimized performance tracking and improvement.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Talent Development &amp; Assessment</a:t>
            </a:r>
            <a:r>
              <a:rPr lang="en-US" altLang="zh-CN" sz="1600" dirty="0"/>
              <a:t>: Create unified competency models, talent development programs, assessment initiatives, and learning platforms with gradient plans for key talents and management trainees.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Digital HR Transformation</a:t>
            </a:r>
            <a:r>
              <a:rPr lang="en-US" altLang="zh-CN" sz="1600" dirty="0"/>
              <a:t>: Champion HR digitalization projects, including SAP SuccessFactors implementation, payroll/attendance interfaces (e.g., ADP), and data mining for enhanced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Shared Service Centers (SSC): Establish group-level SSCs to shift HR focus from operations to strategic partnering, with process and data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M&amp;A HR Support</a:t>
            </a:r>
            <a:r>
              <a:rPr lang="en-US" altLang="zh-CN" sz="1600" dirty="0"/>
              <a:t>: Lead HR aspects of mergers, including productivity deep-dives, organizational blueprints, headcount optimization, talent assessments, staff assignments, and communication plans.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Recruitment &amp; Staffing Optimization</a:t>
            </a:r>
            <a:r>
              <a:rPr lang="en-US" altLang="zh-CN" sz="1600" dirty="0"/>
              <a:t>: Enhance staffing for new departments, digitalize job profiles, and integrate with external platforms for precise talent matching and allocation (e.g., digital patient systems in healthcare).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285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31B3D-4941-ED98-FB3E-743943CD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1E7064-F203-837C-661F-D3C83663A79F}"/>
              </a:ext>
            </a:extLst>
          </p:cNvPr>
          <p:cNvSpPr/>
          <p:nvPr/>
        </p:nvSpPr>
        <p:spPr>
          <a:xfrm>
            <a:off x="323528" y="704873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A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r>
              <a:rPr lang="en-US" sz="2000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NASDAQ listed company</a:t>
            </a:r>
          </a:p>
          <a:p>
            <a:endParaRPr lang="en-US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Assigned by Invetor (PE), to provide Interim HR Management aiming 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Build HR management framework by transforming/ enabling  current HR team, in specific to realize 3 pillars structure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Work closely with top management, to establish solid talent backbone for company’s secondary listing (new BU)</a:t>
            </a:r>
          </a:p>
          <a:p>
            <a:pPr lvl="1"/>
            <a:endParaRPr lang="en-US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team members mostly play hybrid role of business partner + function specialists, which lead to chaos and Inefficiency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There is no HRBP could really concentrate on business strategic supporting,</a:t>
            </a:r>
            <a:r>
              <a:rPr lang="zh-CN" alt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especially identify talent shortage for upcoming new business unit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There is no authoritative COE to govern necessary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There is no dedicated SSC to ensure accurate executions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FAD1CB-B3CF-AF95-2597-C4A1A9DE103A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47445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8A08-1B0D-5108-41C2-6264F026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712A27C-813D-5232-C54B-F3AC49438CCA}"/>
              </a:ext>
            </a:extLst>
          </p:cNvPr>
          <p:cNvSpPr/>
          <p:nvPr/>
        </p:nvSpPr>
        <p:spPr>
          <a:xfrm>
            <a:off x="431540" y="1052736"/>
            <a:ext cx="828092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A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r>
              <a:rPr lang="en-US" sz="2000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NASDAQ listed company 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(</a:t>
            </a: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continued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)</a:t>
            </a:r>
          </a:p>
          <a:p>
            <a:endParaRPr lang="en-US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</a:t>
            </a:r>
            <a:endParaRPr lang="en-US" sz="2000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On-site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interim management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for </a:t>
            </a:r>
            <a:r>
              <a:rPr lang="en-US" noProof="0">
                <a:latin typeface=".萍方-简" panose="020B0400000000000000" pitchFamily="34" charset="-122"/>
                <a:ea typeface=".萍方-简" panose="020B0400000000000000" pitchFamily="34" charset="-122"/>
              </a:rPr>
              <a:t>over 6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 state-of-the-art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HR management framework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at the group level, encompassing all three distinct business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Group SSC and COE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shift HRBPs' focus from operational tasks to strategic business partnering, to contribute against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 organizational and talent needs specific to each business </a:t>
            </a:r>
            <a:r>
              <a:rPr lang="en-US" dirty="0">
                <a:latin typeface=".萍方-简" panose="020B0400000000000000" pitchFamily="34" charset="-122"/>
                <a:ea typeface=".萍方-简" panose="020B0400000000000000" pitchFamily="34" charset="-122"/>
              </a:rPr>
              <a:t>U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Reviewed all HR functions and provided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1:1 coaching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to empower relevant stakeholders.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Created a unified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competency model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covering </a:t>
            </a:r>
            <a:r>
              <a:rPr lang="en-US" dirty="0">
                <a:latin typeface=".萍方-简" panose="020B0400000000000000" pitchFamily="34" charset="-122"/>
                <a:ea typeface=".萍方-简" panose="020B0400000000000000" pitchFamily="34" charset="-122"/>
              </a:rPr>
              <a:t>key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 functions across the Group which can be used for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talent pipelining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in new BU.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Conducted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an Assessment Program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for all key talents.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Led the construction of a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learning platform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, incorporating gradient learning plans tailored to the competency model of each 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Enhanced recruitment efficiency by optimizing collaboration with external platforms using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digitalized job profiles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.</a:t>
            </a:r>
            <a:endParaRPr lang="en-US" sz="1600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7E4385-9F73-134A-501D-9ED230D7D0F1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291245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0C66-77C6-5E55-1375-4CCEF010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11416B8-F244-54B6-1CFB-EFF353866055}"/>
              </a:ext>
            </a:extLst>
          </p:cNvPr>
          <p:cNvSpPr/>
          <p:nvPr/>
        </p:nvSpPr>
        <p:spPr>
          <a:xfrm>
            <a:off x="395536" y="836712"/>
            <a:ext cx="828092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A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r>
              <a:rPr lang="en-US" sz="2000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NASDAQ listed company 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(</a:t>
            </a: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continued – typical products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)</a:t>
            </a: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Competency Model Sample</a:t>
            </a:r>
            <a:endParaRPr lang="en-US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938B7D-F59D-147D-8730-985BB1F6B88B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890374-999D-5A7C-0C42-887051780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66" y="2043552"/>
            <a:ext cx="8784468" cy="45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0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F370D-C176-A122-8360-D8F31F4E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6A7ACF-32F0-98A1-1C94-BFB5B8824BA3}"/>
              </a:ext>
            </a:extLst>
          </p:cNvPr>
          <p:cNvSpPr/>
          <p:nvPr/>
        </p:nvSpPr>
        <p:spPr>
          <a:xfrm>
            <a:off x="395536" y="836712"/>
            <a:ext cx="8280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A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r>
              <a:rPr lang="en-US" sz="2000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NASDAQ listed company 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(</a:t>
            </a: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continued – typical products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)</a:t>
            </a: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Competency Based Talent Tracking System</a:t>
            </a:r>
            <a:endParaRPr lang="en-US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ECD6FC-A767-BF1E-6270-D3FB1EE0AD51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D9022A-5ADD-798D-4EB3-3398928B1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" y="3284984"/>
            <a:ext cx="8712460" cy="34897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9A661B-57BF-8C90-C7F8-EA0E05635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328" y="704189"/>
            <a:ext cx="993281" cy="71409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F003A81-E9FD-AF0C-E606-4D9D7EA42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529" y="1544598"/>
            <a:ext cx="5206463" cy="268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6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63A51-844D-B5C6-12E9-CB6A6921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555A54-0271-EEB0-CB65-F6173C865A64}"/>
              </a:ext>
            </a:extLst>
          </p:cNvPr>
          <p:cNvSpPr/>
          <p:nvPr/>
        </p:nvSpPr>
        <p:spPr>
          <a:xfrm>
            <a:off x="395536" y="305068"/>
            <a:ext cx="8280920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State-Owned Engineering Group</a:t>
            </a: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To find a smooth solution aiming at souring adequate proper technical engineers  for ad-hoc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The talent pool are always existing in form of discrete staffing papers associated with historical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Need to build a system which is capable to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Track useful competency information of existing engineers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Collect information from new capture competency information in  structured way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 digital competency profile DB for all above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 algorithm to match project demand quickly and accurately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Track performance under each project and make it useful reference for future match  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7BB8443-B63C-B051-B652-0CB4517BFD35}"/>
              </a:ext>
            </a:extLst>
          </p:cNvPr>
          <p:cNvSpPr txBox="1"/>
          <p:nvPr/>
        </p:nvSpPr>
        <p:spPr>
          <a:xfrm>
            <a:off x="3203848" y="5009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37717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308287-F058-D5EC-9924-00F345DF5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" y="1556792"/>
            <a:ext cx="9144000" cy="504257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CAD24FE-DAF0-5506-A2A0-73C77E323F73}"/>
              </a:ext>
            </a:extLst>
          </p:cNvPr>
          <p:cNvSpPr/>
          <p:nvPr/>
        </p:nvSpPr>
        <p:spPr>
          <a:xfrm>
            <a:off x="467544" y="476672"/>
            <a:ext cx="8208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State-Owned Engineering Group</a:t>
            </a: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 – Talent Sourcing system </a:t>
            </a:r>
            <a:r>
              <a:rPr lang="en-US" altLang="zh-CN" sz="2000" b="1" dirty="0" err="1">
                <a:latin typeface=".萍方-简" panose="020B0400000000000000" pitchFamily="34" charset="-122"/>
                <a:ea typeface=".萍方-简" panose="020B0400000000000000" pitchFamily="34" charset="-122"/>
              </a:rPr>
              <a:t>Smartisans</a:t>
            </a:r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7990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94E1-D55D-DD3A-9B64-17E20466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0BA667-F04F-B59D-2DDA-DB32AF4E6DE8}"/>
              </a:ext>
            </a:extLst>
          </p:cNvPr>
          <p:cNvSpPr/>
          <p:nvPr/>
        </p:nvSpPr>
        <p:spPr>
          <a:xfrm>
            <a:off x="467544" y="476672"/>
            <a:ext cx="8208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State-Owned Engineering Group</a:t>
            </a: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 – Talent Sourcing system </a:t>
            </a:r>
            <a:r>
              <a:rPr lang="en-US" altLang="zh-CN" sz="2000" b="1" dirty="0" err="1">
                <a:latin typeface=".萍方-简" panose="020B0400000000000000" pitchFamily="34" charset="-122"/>
                <a:ea typeface=".萍方-简" panose="020B0400000000000000" pitchFamily="34" charset="-122"/>
              </a:rPr>
              <a:t>Smartisans</a:t>
            </a:r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1FC7ACB-AB07-5CC3-6AC4-D0CA2B63477A}"/>
              </a:ext>
            </a:extLst>
          </p:cNvPr>
          <p:cNvSpPr txBox="1"/>
          <p:nvPr/>
        </p:nvSpPr>
        <p:spPr>
          <a:xfrm>
            <a:off x="3275856" y="213723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B686E0-690E-13B0-A663-DA1CD0313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816"/>
            <a:ext cx="9144000" cy="451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59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212758"/>
            <a:ext cx="792088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Global mining giant</a:t>
            </a: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Assigned by Global HR to provide HR consulting service across APAC + EMEA, with focus 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Streamline HR organization by reviewing and coaching current HR team in COE+SSC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Work closely with global project team, to ensure SAP SF’s on time deployment in region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internal knowledge are managed almost offline by certain people, with confused understanding among team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SSC are very country focused (not really region SHARED) although we see huge value harmonizing most of practices across multiple countries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Lack of vehicles to help SSC to work in modern 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Low level of SSC engagements on SF deployment </a:t>
            </a: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5EA143AB-80BF-8C08-0ED6-E7AAE8A41A89}"/>
              </a:ext>
            </a:extLst>
          </p:cNvPr>
          <p:cNvSpPr txBox="1"/>
          <p:nvPr/>
        </p:nvSpPr>
        <p:spPr>
          <a:xfrm>
            <a:off x="3203848" y="5009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982882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C3A6-DFF7-4A05-0AD6-71199E9E7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D37C640-2185-6CF5-331D-67A50A6000AF}"/>
              </a:ext>
            </a:extLst>
          </p:cNvPr>
          <p:cNvSpPr/>
          <p:nvPr/>
        </p:nvSpPr>
        <p:spPr>
          <a:xfrm>
            <a:off x="467544" y="476672"/>
            <a:ext cx="820891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Global mining giant (continued)</a:t>
            </a: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</a:t>
            </a:r>
          </a:p>
          <a:p>
            <a:endParaRPr lang="en-US" altLang="zh-CN" sz="24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Led HR transformation project (extended to two years) for APAC + EMEA regions by using SAP SF deployment as a handle of enhancing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HR management framework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interfaces with Payroll and Attendance systems (ADP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), to let SSC to quickly find their values under new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Coordinated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integration testing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by deeply involving ALL SSC (plus HRBP+COE) </a:t>
            </a:r>
            <a:r>
              <a:rPr lang="zh-CN" alt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Directed HR Shared Service Center (SSC) in APAC/EMEA to drive data and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process improvements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via new tech, e.g.MS 365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Supported Total Rewards team in establishing more reliable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compensation/ benefits framework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across the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Assisted in refining the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Year-End bonus process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and set the rules for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Coach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ed HR colleagues in the SSC and Total Rewards teams.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E6DAF3F8-C53C-909E-847C-609DD1B20161}"/>
              </a:ext>
            </a:extLst>
          </p:cNvPr>
          <p:cNvSpPr txBox="1"/>
          <p:nvPr/>
        </p:nvSpPr>
        <p:spPr>
          <a:xfrm>
            <a:off x="3275856" y="213723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934917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05B5-C125-FCBA-3D9C-0A6D12F07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24DD8AE-CBE7-D11E-55AE-66400759EF29}"/>
              </a:ext>
            </a:extLst>
          </p:cNvPr>
          <p:cNvSpPr/>
          <p:nvPr/>
        </p:nvSpPr>
        <p:spPr>
          <a:xfrm>
            <a:off x="323528" y="629221"/>
            <a:ext cx="842493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</a:t>
            </a:r>
            <a:r>
              <a:rPr lang="zh-CN" altLang="en-US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leading Baijiu 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Make HR a key driver to realize the goal of 2X revenue in 3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 HR team to support sustainable development of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From organizational perspective review business structure to fir modern business environment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business team is very reliable on execution of superior’s command, while lack of self-motivation upon micro goals of 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team are led by business leader who is no doubt with loyalty and passion but lack of expertise as HR.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Most revenue are realized via existing traditional channels, with little space to surge further unless meaningful (qualified) teams of Marketing, Trade Marketing and E-Trade are built.  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BE80E71-52CF-407C-A0A0-6FF64F95CC3B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296314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BD82-AD6F-ECFA-1EDE-01A05AB4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19256B2-C6AB-49B3-E61A-C3B6FD2C3EE7}"/>
              </a:ext>
            </a:extLst>
          </p:cNvPr>
          <p:cNvSpPr/>
          <p:nvPr/>
        </p:nvSpPr>
        <p:spPr>
          <a:xfrm>
            <a:off x="323528" y="629221"/>
            <a:ext cx="8496944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</a:t>
            </a:r>
            <a:r>
              <a:rPr lang="zh-CN" altLang="en-US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leading Baijiu brand (Continued</a:t>
            </a:r>
            <a:r>
              <a:rPr lang="zh-CN" altLang="en-US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）</a:t>
            </a:r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</a:t>
            </a:r>
          </a:p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Human Resources Consulting Services with at least 2 years of long-tail tracking and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 comprehensive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HR framework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, including organizational design and empowerment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grading system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ensure competitive/fair compensation.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Implemented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goal-based performance management system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for measurable outcomes of all key contributors.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performance bonus system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 to reward achievements.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Created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commission system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incentivize sales and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Introduced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long-term incentive plan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retain top talent.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Formulated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Talent Development Plan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enhance employee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 solid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Management Trainee Development Plan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nurture future leaders.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Built teams of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Marketing, Trade Marketing and E-Trade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with modern definitions.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AB4BE28E-539D-698D-B4A0-D43FC7CB6BE6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3430852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7544" y="704189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An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agricultural technology company</a:t>
            </a: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Constructed an overall HR framework to align with organizational goals.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organizational structure and empowerment strategies to enhance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 grading and salary system to ensure equitable compensation.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Implemented a performance incentive program to motivate employees.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a long-term incentive plan to retain key talent.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Launched a Talent Development Program to foster professional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Established the Group's Shared Service Center to streamline HR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Drove digital transformation to modernize HR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623FDA4-7EF3-2573-16CD-2582EDDF55FB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808068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29EC-07CB-811D-D7EA-D97FDEFD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6D39B1-05A7-02E2-30A5-5F07CBEB8148}"/>
              </a:ext>
            </a:extLst>
          </p:cNvPr>
          <p:cNvSpPr/>
          <p:nvPr/>
        </p:nvSpPr>
        <p:spPr>
          <a:xfrm>
            <a:off x="611560" y="980728"/>
            <a:ext cx="792088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dental chain enterprise</a:t>
            </a:r>
          </a:p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an overall HR framework to support organizational objectives.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organizational structure and empowerment strategies to enhance leadership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Implemented business-specific competency assessments and a digital patient allocation system for optimized resource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Created profit-sharing plans by clinic to foster an entrepreneurial spirit among staff.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Constructed a grading/salary system and designed performance incentives and long-term incentive plans to drive motivation and retention.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4A03F950-2C83-4CDE-6A0F-2AD2616C8BFD}"/>
              </a:ext>
            </a:extLst>
          </p:cNvPr>
          <p:cNvSpPr txBox="1"/>
          <p:nvPr/>
        </p:nvSpPr>
        <p:spPr>
          <a:xfrm>
            <a:off x="3319906" y="288691"/>
            <a:ext cx="191020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1312732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5703" y="1124744"/>
            <a:ext cx="792088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Nation-Owned distribution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organizational structure for Marketing and Trade Marketing functions to align with market demands.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Managed new department staffing and development to build capable teams.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Conducted data mining from existing business systems to empower new functions with greater confidence.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Established a mature performance-based compensation management framework to incentivize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Facilitated deployment of the above initiatives through digital solutions for enhanced efficiency.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623FDA4-7EF3-2573-16CD-2582EDDF55FB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450909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70FC-BC0D-D6C1-03D8-21F301F3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1052650-0373-6632-0D37-094AE932BB4B}"/>
              </a:ext>
            </a:extLst>
          </p:cNvPr>
          <p:cNvSpPr/>
          <p:nvPr/>
        </p:nvSpPr>
        <p:spPr>
          <a:xfrm>
            <a:off x="575703" y="1124744"/>
            <a:ext cx="792088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M&amp;A project for an international logistic giant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Collaborated with GPMIP as the HR champion for the entire M&amp;A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Conducted a deep-dive productivity analysis to identify key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an organizational blueprint based on a comprehensive analysis of both parties.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Proposed an HC optimization plan integrating bottom-up analysis with top-down financial expectations.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Performed talent assessments and staff assignments to align with the organizational blueprint, including before-and-after comparisons for HC and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Prepared communication decks tailored for management, managers, and employees.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Integrated HR strategies into the overall M&amp;A proposal for seamless execution.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BF663BB3-BB24-8962-5078-E8B1019150A2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67062173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1591</Words>
  <Application>Microsoft Office PowerPoint</Application>
  <PresentationFormat>全屏显示(4:3)</PresentationFormat>
  <Paragraphs>167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.萍方-简</vt:lpstr>
      <vt:lpstr>Microsoft YaHei UI</vt:lpstr>
      <vt:lpstr>Arial</vt:lpstr>
      <vt:lpstr>Calibri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Camilla Zhao</dc:creator>
  <cp:lastModifiedBy>Xin Gao</cp:lastModifiedBy>
  <cp:revision>49</cp:revision>
  <cp:lastPrinted>2021-03-13T09:25:41Z</cp:lastPrinted>
  <dcterms:created xsi:type="dcterms:W3CDTF">2018-07-31T01:56:19Z</dcterms:created>
  <dcterms:modified xsi:type="dcterms:W3CDTF">2026-01-26T09:46:23Z</dcterms:modified>
</cp:coreProperties>
</file>